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3657600" cy="355600"/>
          </a:xfrm>
          <a:prstGeom prst="rect">
            <a:avLst/>
          </a:prstGeom>
          <a:noFill/>
        </p:spPr>
        <p:txBody>
          <a:bodyPr wrap="square">
            <a:spAutoFit/>
          </a:bodyPr>
          <a:lstStyle/>
          <a:p>
            <a:pPr algn="l"/>
            <a:r>
              <a:rPr sz="1100" b="1" i="0">
                <a:solidFill>
                  <a:srgbClr val="C8A951"/>
                </a:solidFill>
                <a:latin typeface="Calibri"/>
              </a:rPr>
              <a:t>AppStudioX</a:t>
            </a:r>
          </a:p>
        </p:txBody>
      </p:sp>
      <p:sp>
        <p:nvSpPr>
          <p:cNvPr id="4" name="TextBox 3"/>
          <p:cNvSpPr txBox="1"/>
          <p:nvPr/>
        </p:nvSpPr>
        <p:spPr>
          <a:xfrm>
            <a:off x="6400800" y="274320"/>
            <a:ext cx="5486400" cy="203200"/>
          </a:xfrm>
          <a:prstGeom prst="rect">
            <a:avLst/>
          </a:prstGeom>
          <a:noFill/>
        </p:spPr>
        <p:txBody>
          <a:bodyPr wrap="square">
            <a:spAutoFit/>
          </a:bodyPr>
          <a:lstStyle/>
          <a:p>
            <a:pPr algn="r"/>
            <a:r>
              <a:rPr sz="900" b="0" i="0">
                <a:solidFill>
                  <a:srgbClr val="606060"/>
                </a:solidFill>
                <a:latin typeface="Calibri"/>
              </a:rPr>
              <a:t>CONFIDENTIAL  ·  OCTOBER 2026</a:t>
            </a:r>
          </a:p>
        </p:txBody>
      </p:sp>
      <p:sp>
        <p:nvSpPr>
          <p:cNvPr id="5" name="TextBox 4"/>
          <p:cNvSpPr txBox="1"/>
          <p:nvPr/>
        </p:nvSpPr>
        <p:spPr>
          <a:xfrm>
            <a:off x="731520" y="1463040"/>
            <a:ext cx="7315200" cy="2286000"/>
          </a:xfrm>
          <a:prstGeom prst="rect">
            <a:avLst/>
          </a:prstGeom>
          <a:noFill/>
        </p:spPr>
        <p:txBody>
          <a:bodyPr wrap="square">
            <a:spAutoFit/>
          </a:bodyPr>
          <a:lstStyle/>
          <a:p>
            <a:pPr algn="l">
              <a:lnSpc>
                <a:spcPct val="1100"/>
              </a:lnSpc>
            </a:pPr>
            <a:r>
              <a:rPr sz="5400" b="1" i="0">
                <a:solidFill>
                  <a:srgbClr val="FFFFFF"/>
                </a:solidFill>
                <a:latin typeface="Calibri"/>
              </a:rPr>
              <a:t>Technology Talent
Partnership</a:t>
            </a:r>
          </a:p>
        </p:txBody>
      </p:sp>
      <p:sp>
        <p:nvSpPr>
          <p:cNvPr id="6" name="Rectangle 5"/>
          <p:cNvSpPr/>
          <p:nvPr/>
        </p:nvSpPr>
        <p:spPr>
          <a:xfrm>
            <a:off x="731520" y="3749039"/>
            <a:ext cx="548640" cy="381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886200"/>
            <a:ext cx="8229600" cy="355600"/>
          </a:xfrm>
          <a:prstGeom prst="rect">
            <a:avLst/>
          </a:prstGeom>
          <a:noFill/>
        </p:spPr>
        <p:txBody>
          <a:bodyPr wrap="square">
            <a:spAutoFit/>
          </a:bodyPr>
          <a:lstStyle/>
          <a:p>
            <a:pPr algn="l"/>
            <a:r>
              <a:rPr sz="1800" b="0" i="0">
                <a:solidFill>
                  <a:srgbClr val="C0C0C0"/>
                </a:solidFill>
                <a:latin typeface="Calibri"/>
              </a:rPr>
              <a:t>Executive Search &amp; Technology Talent Advisory</a:t>
            </a:r>
          </a:p>
        </p:txBody>
      </p:sp>
      <p:sp>
        <p:nvSpPr>
          <p:cNvPr id="8" name="TextBox 7"/>
          <p:cNvSpPr txBox="1"/>
          <p:nvPr/>
        </p:nvSpPr>
        <p:spPr>
          <a:xfrm>
            <a:off x="731520" y="4663440"/>
            <a:ext cx="8229600" cy="355600"/>
          </a:xfrm>
          <a:prstGeom prst="rect">
            <a:avLst/>
          </a:prstGeom>
          <a:noFill/>
        </p:spPr>
        <p:txBody>
          <a:bodyPr wrap="square">
            <a:spAutoFit/>
          </a:bodyPr>
          <a:lstStyle/>
          <a:p>
            <a:pPr algn="l"/>
            <a:r>
              <a:rPr sz="1300" b="0" i="1">
                <a:solidFill>
                  <a:srgbClr val="707070"/>
                </a:solidFill>
                <a:latin typeface="Calibri"/>
              </a:rPr>
              <a:t>Where Strategy Meets Scale.</a:t>
            </a:r>
          </a:p>
        </p:txBody>
      </p:sp>
      <p:sp>
        <p:nvSpPr>
          <p:cNvPr id="9" name="TextBox 8"/>
          <p:cNvSpPr txBox="1"/>
          <p:nvPr/>
        </p:nvSpPr>
        <p:spPr>
          <a:xfrm>
            <a:off x="731520" y="5577840"/>
            <a:ext cx="2560320" cy="355600"/>
          </a:xfrm>
          <a:prstGeom prst="rect">
            <a:avLst/>
          </a:prstGeom>
          <a:noFill/>
        </p:spPr>
        <p:txBody>
          <a:bodyPr wrap="square">
            <a:spAutoFit/>
          </a:bodyPr>
          <a:lstStyle/>
          <a:p>
            <a:pPr algn="l"/>
            <a:r>
              <a:rPr sz="2200" b="1" i="0">
                <a:solidFill>
                  <a:srgbClr val="FFFFFF"/>
                </a:solidFill>
                <a:latin typeface="Calibri"/>
              </a:rPr>
              <a:t>23+</a:t>
            </a:r>
          </a:p>
        </p:txBody>
      </p:sp>
      <p:sp>
        <p:nvSpPr>
          <p:cNvPr id="10" name="TextBox 9"/>
          <p:cNvSpPr txBox="1"/>
          <p:nvPr/>
        </p:nvSpPr>
        <p:spPr>
          <a:xfrm>
            <a:off x="731520" y="5989320"/>
            <a:ext cx="2560320" cy="254000"/>
          </a:xfrm>
          <a:prstGeom prst="rect">
            <a:avLst/>
          </a:prstGeom>
          <a:noFill/>
        </p:spPr>
        <p:txBody>
          <a:bodyPr wrap="square">
            <a:spAutoFit/>
          </a:bodyPr>
          <a:lstStyle/>
          <a:p>
            <a:pPr algn="l"/>
            <a:r>
              <a:rPr sz="900" b="0" i="0">
                <a:solidFill>
                  <a:srgbClr val="737373"/>
                </a:solidFill>
                <a:latin typeface="Calibri"/>
              </a:rPr>
              <a:t>Years of Expertise</a:t>
            </a:r>
          </a:p>
        </p:txBody>
      </p:sp>
      <p:sp>
        <p:nvSpPr>
          <p:cNvPr id="11" name="TextBox 10"/>
          <p:cNvSpPr txBox="1"/>
          <p:nvPr/>
        </p:nvSpPr>
        <p:spPr>
          <a:xfrm>
            <a:off x="3566160" y="5577840"/>
            <a:ext cx="2560320" cy="355600"/>
          </a:xfrm>
          <a:prstGeom prst="rect">
            <a:avLst/>
          </a:prstGeom>
          <a:noFill/>
        </p:spPr>
        <p:txBody>
          <a:bodyPr wrap="square">
            <a:spAutoFit/>
          </a:bodyPr>
          <a:lstStyle/>
          <a:p>
            <a:pPr algn="l"/>
            <a:r>
              <a:rPr sz="2200" b="1" i="0">
                <a:solidFill>
                  <a:srgbClr val="FFFFFF"/>
                </a:solidFill>
                <a:latin typeface="Calibri"/>
              </a:rPr>
              <a:t>47+</a:t>
            </a:r>
          </a:p>
        </p:txBody>
      </p:sp>
      <p:sp>
        <p:nvSpPr>
          <p:cNvPr id="12" name="TextBox 11"/>
          <p:cNvSpPr txBox="1"/>
          <p:nvPr/>
        </p:nvSpPr>
        <p:spPr>
          <a:xfrm>
            <a:off x="3566160" y="5989320"/>
            <a:ext cx="2560320" cy="254000"/>
          </a:xfrm>
          <a:prstGeom prst="rect">
            <a:avLst/>
          </a:prstGeom>
          <a:noFill/>
        </p:spPr>
        <p:txBody>
          <a:bodyPr wrap="square">
            <a:spAutoFit/>
          </a:bodyPr>
          <a:lstStyle/>
          <a:p>
            <a:pPr algn="l"/>
            <a:r>
              <a:rPr sz="900" b="0" i="0">
                <a:solidFill>
                  <a:srgbClr val="737373"/>
                </a:solidFill>
                <a:latin typeface="Calibri"/>
              </a:rPr>
              <a:t>Brands Served</a:t>
            </a:r>
          </a:p>
        </p:txBody>
      </p:sp>
      <p:sp>
        <p:nvSpPr>
          <p:cNvPr id="13" name="TextBox 12"/>
          <p:cNvSpPr txBox="1"/>
          <p:nvPr/>
        </p:nvSpPr>
        <p:spPr>
          <a:xfrm>
            <a:off x="6400800" y="5577840"/>
            <a:ext cx="2560320" cy="355600"/>
          </a:xfrm>
          <a:prstGeom prst="rect">
            <a:avLst/>
          </a:prstGeom>
          <a:noFill/>
        </p:spPr>
        <p:txBody>
          <a:bodyPr wrap="square">
            <a:spAutoFit/>
          </a:bodyPr>
          <a:lstStyle/>
          <a:p>
            <a:pPr algn="l"/>
            <a:r>
              <a:rPr sz="2200" b="1" i="0">
                <a:solidFill>
                  <a:srgbClr val="FFFFFF"/>
                </a:solidFill>
                <a:latin typeface="Calibri"/>
              </a:rPr>
              <a:t>6</a:t>
            </a:r>
          </a:p>
        </p:txBody>
      </p:sp>
      <p:sp>
        <p:nvSpPr>
          <p:cNvPr id="14" name="TextBox 13"/>
          <p:cNvSpPr txBox="1"/>
          <p:nvPr/>
        </p:nvSpPr>
        <p:spPr>
          <a:xfrm>
            <a:off x="6400800" y="5989320"/>
            <a:ext cx="2560320" cy="254000"/>
          </a:xfrm>
          <a:prstGeom prst="rect">
            <a:avLst/>
          </a:prstGeom>
          <a:noFill/>
        </p:spPr>
        <p:txBody>
          <a:bodyPr wrap="square">
            <a:spAutoFit/>
          </a:bodyPr>
          <a:lstStyle/>
          <a:p>
            <a:pPr algn="l"/>
            <a:r>
              <a:rPr sz="900" b="0" i="0">
                <a:solidFill>
                  <a:srgbClr val="737373"/>
                </a:solidFill>
                <a:latin typeface="Calibri"/>
              </a:rPr>
              <a:t>Global Offices</a:t>
            </a:r>
          </a:p>
        </p:txBody>
      </p:sp>
      <p:sp>
        <p:nvSpPr>
          <p:cNvPr id="15" name="TextBox 14"/>
          <p:cNvSpPr txBox="1"/>
          <p:nvPr/>
        </p:nvSpPr>
        <p:spPr>
          <a:xfrm>
            <a:off x="9235440" y="5577840"/>
            <a:ext cx="2560320" cy="355600"/>
          </a:xfrm>
          <a:prstGeom prst="rect">
            <a:avLst/>
          </a:prstGeom>
          <a:noFill/>
        </p:spPr>
        <p:txBody>
          <a:bodyPr wrap="square">
            <a:spAutoFit/>
          </a:bodyPr>
          <a:lstStyle/>
          <a:p>
            <a:pPr algn="l"/>
            <a:r>
              <a:rPr sz="2200" b="1" i="0">
                <a:solidFill>
                  <a:srgbClr val="FFFFFF"/>
                </a:solidFill>
                <a:latin typeface="Calibri"/>
              </a:rPr>
              <a:t>India · APAC · MENA · US</a:t>
            </a:r>
          </a:p>
        </p:txBody>
      </p:sp>
      <p:sp>
        <p:nvSpPr>
          <p:cNvPr id="16" name="TextBox 15"/>
          <p:cNvSpPr txBox="1"/>
          <p:nvPr/>
        </p:nvSpPr>
        <p:spPr>
          <a:xfrm>
            <a:off x="9235440" y="5989320"/>
            <a:ext cx="2560320" cy="254000"/>
          </a:xfrm>
          <a:prstGeom prst="rect">
            <a:avLst/>
          </a:prstGeom>
          <a:noFill/>
        </p:spPr>
        <p:txBody>
          <a:bodyPr wrap="square">
            <a:spAutoFit/>
          </a:bodyPr>
          <a:lstStyle/>
          <a:p>
            <a:pPr algn="l"/>
            <a:r>
              <a:rPr sz="900" b="0" i="0">
                <a:solidFill>
                  <a:srgbClr val="737373"/>
                </a:solidFill>
                <a:latin typeface="Calibri"/>
              </a:rPr>
              <a:t>Talent Reach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THE OPPORTUNITY</a:t>
            </a:r>
          </a:p>
        </p:txBody>
      </p:sp>
      <p:sp>
        <p:nvSpPr>
          <p:cNvPr id="4" name="TextBox 3"/>
          <p:cNvSpPr txBox="1"/>
          <p:nvPr/>
        </p:nvSpPr>
        <p:spPr>
          <a:xfrm>
            <a:off x="731520" y="640080"/>
            <a:ext cx="10058400" cy="1645920"/>
          </a:xfrm>
          <a:prstGeom prst="rect">
            <a:avLst/>
          </a:prstGeom>
          <a:noFill/>
        </p:spPr>
        <p:txBody>
          <a:bodyPr wrap="square">
            <a:spAutoFit/>
          </a:bodyPr>
          <a:lstStyle/>
          <a:p>
            <a:pPr algn="l">
              <a:lnSpc>
                <a:spcPct val="1150"/>
              </a:lnSpc>
            </a:pPr>
            <a:r>
              <a:rPr sz="3200" b="1" i="0">
                <a:solidFill>
                  <a:srgbClr val="0D0D0D"/>
                </a:solidFill>
                <a:latin typeface="Calibri"/>
              </a:rPr>
              <a:t>Enterprise technology talent is now a
strategic, board-level priority.</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57400"/>
            <a:ext cx="3474720" cy="411480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57400"/>
            <a:ext cx="34747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40280"/>
            <a:ext cx="3108960" cy="304800"/>
          </a:xfrm>
          <a:prstGeom prst="rect">
            <a:avLst/>
          </a:prstGeom>
          <a:noFill/>
        </p:spPr>
        <p:txBody>
          <a:bodyPr wrap="square">
            <a:spAutoFit/>
          </a:bodyPr>
          <a:lstStyle/>
          <a:p>
            <a:pPr algn="l"/>
            <a:r>
              <a:rPr sz="1400" b="1" i="0">
                <a:solidFill>
                  <a:srgbClr val="0D0D0D"/>
                </a:solidFill>
                <a:latin typeface="Calibri"/>
              </a:rPr>
              <a:t>The Talent Gap</a:t>
            </a:r>
          </a:p>
        </p:txBody>
      </p:sp>
      <p:sp>
        <p:nvSpPr>
          <p:cNvPr id="9" name="TextBox 8"/>
          <p:cNvSpPr txBox="1"/>
          <p:nvPr/>
        </p:nvSpPr>
        <p:spPr>
          <a:xfrm>
            <a:off x="914400" y="2606040"/>
            <a:ext cx="3108960" cy="2743200"/>
          </a:xfrm>
          <a:prstGeom prst="rect">
            <a:avLst/>
          </a:prstGeom>
          <a:noFill/>
        </p:spPr>
        <p:txBody>
          <a:bodyPr wrap="square">
            <a:spAutoFit/>
          </a:bodyPr>
          <a:lstStyle/>
          <a:p>
            <a:pPr algn="l">
              <a:lnSpc>
                <a:spcPct val="1350"/>
              </a:lnSpc>
            </a:pPr>
            <a:r>
              <a:rPr sz="1000" b="0" i="0">
                <a:solidFill>
                  <a:srgbClr val="404040"/>
                </a:solidFill>
                <a:latin typeface="Calibri"/>
              </a:rPr>
              <a:t>23% of enterprise technology roles in India remain unfilled beyond 6 months. The competition for senior .NET, Java, Cloud, and AI talent has never been more intense.</a:t>
            </a:r>
          </a:p>
        </p:txBody>
      </p:sp>
      <p:sp>
        <p:nvSpPr>
          <p:cNvPr id="10" name="Rectangle 9"/>
          <p:cNvSpPr/>
          <p:nvPr/>
        </p:nvSpPr>
        <p:spPr>
          <a:xfrm>
            <a:off x="4526280" y="2057400"/>
            <a:ext cx="3474720" cy="411480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057400"/>
            <a:ext cx="34747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240280"/>
            <a:ext cx="3108960" cy="304800"/>
          </a:xfrm>
          <a:prstGeom prst="rect">
            <a:avLst/>
          </a:prstGeom>
          <a:noFill/>
        </p:spPr>
        <p:txBody>
          <a:bodyPr wrap="square">
            <a:spAutoFit/>
          </a:bodyPr>
          <a:lstStyle/>
          <a:p>
            <a:pPr algn="l"/>
            <a:r>
              <a:rPr sz="1400" b="1" i="0">
                <a:solidFill>
                  <a:srgbClr val="0D0D0D"/>
                </a:solidFill>
                <a:latin typeface="Calibri"/>
              </a:rPr>
              <a:t>The Cost of the Wrong Hire</a:t>
            </a:r>
          </a:p>
        </p:txBody>
      </p:sp>
      <p:sp>
        <p:nvSpPr>
          <p:cNvPr id="13" name="TextBox 12"/>
          <p:cNvSpPr txBox="1"/>
          <p:nvPr/>
        </p:nvSpPr>
        <p:spPr>
          <a:xfrm>
            <a:off x="4709160" y="2606040"/>
            <a:ext cx="3108960" cy="2743200"/>
          </a:xfrm>
          <a:prstGeom prst="rect">
            <a:avLst/>
          </a:prstGeom>
          <a:noFill/>
        </p:spPr>
        <p:txBody>
          <a:bodyPr wrap="square">
            <a:spAutoFit/>
          </a:bodyPr>
          <a:lstStyle/>
          <a:p>
            <a:pPr algn="l">
              <a:lnSpc>
                <a:spcPct val="1350"/>
              </a:lnSpc>
            </a:pPr>
            <a:r>
              <a:rPr sz="1000" b="0" i="0">
                <a:solidFill>
                  <a:srgbClr val="404040"/>
                </a:solidFill>
                <a:latin typeface="Calibri"/>
              </a:rPr>
              <a:t>A mis-hire at Director or above costs 3–5x annual salary in lost productivity, recruitment, and organisational disruption. Getting it right the first time is not optional.</a:t>
            </a:r>
          </a:p>
        </p:txBody>
      </p:sp>
      <p:sp>
        <p:nvSpPr>
          <p:cNvPr id="14" name="Rectangle 13"/>
          <p:cNvSpPr/>
          <p:nvPr/>
        </p:nvSpPr>
        <p:spPr>
          <a:xfrm>
            <a:off x="8321040" y="2057400"/>
            <a:ext cx="3474720" cy="411480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057400"/>
            <a:ext cx="34747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2240280"/>
            <a:ext cx="3108960" cy="304800"/>
          </a:xfrm>
          <a:prstGeom prst="rect">
            <a:avLst/>
          </a:prstGeom>
          <a:noFill/>
        </p:spPr>
        <p:txBody>
          <a:bodyPr wrap="square">
            <a:spAutoFit/>
          </a:bodyPr>
          <a:lstStyle/>
          <a:p>
            <a:pPr algn="l"/>
            <a:r>
              <a:rPr sz="1400" b="1" i="0">
                <a:solidFill>
                  <a:srgbClr val="0D0D0D"/>
                </a:solidFill>
                <a:latin typeface="Calibri"/>
              </a:rPr>
              <a:t>The Window of Advantage</a:t>
            </a:r>
          </a:p>
        </p:txBody>
      </p:sp>
      <p:sp>
        <p:nvSpPr>
          <p:cNvPr id="17" name="TextBox 16"/>
          <p:cNvSpPr txBox="1"/>
          <p:nvPr/>
        </p:nvSpPr>
        <p:spPr>
          <a:xfrm>
            <a:off x="8503920" y="2606040"/>
            <a:ext cx="3108960" cy="2743200"/>
          </a:xfrm>
          <a:prstGeom prst="rect">
            <a:avLst/>
          </a:prstGeom>
          <a:noFill/>
        </p:spPr>
        <p:txBody>
          <a:bodyPr wrap="square">
            <a:spAutoFit/>
          </a:bodyPr>
          <a:lstStyle/>
          <a:p>
            <a:pPr algn="l">
              <a:lnSpc>
                <a:spcPct val="1350"/>
              </a:lnSpc>
            </a:pPr>
            <a:r>
              <a:rPr sz="1000" b="0" i="0">
                <a:solidFill>
                  <a:srgbClr val="404040"/>
                </a:solidFill>
                <a:latin typeface="Calibri"/>
              </a:rPr>
              <a:t>Companies that secure the right technology leadership in the next 12 months will define their competitive position for the rest of the decade. Speed and precision matter.</a:t>
            </a:r>
          </a:p>
        </p:txBody>
      </p:sp>
      <p:sp>
        <p:nvSpPr>
          <p:cNvPr id="18" name="TextBox 17"/>
          <p:cNvSpPr txBox="1"/>
          <p:nvPr/>
        </p:nvSpPr>
        <p:spPr>
          <a:xfrm>
            <a:off x="731520" y="6309360"/>
            <a:ext cx="10515600" cy="304800"/>
          </a:xfrm>
          <a:prstGeom prst="rect">
            <a:avLst/>
          </a:prstGeom>
          <a:noFill/>
        </p:spPr>
        <p:txBody>
          <a:bodyPr wrap="square">
            <a:spAutoFit/>
          </a:bodyPr>
          <a:lstStyle/>
          <a:p>
            <a:pPr algn="l"/>
            <a:r>
              <a:rPr sz="1100" b="0" i="1">
                <a:solidFill>
                  <a:srgbClr val="737373"/>
                </a:solidFill>
                <a:latin typeface="Calibri"/>
              </a:rPr>
              <a:t>AppStudioX exists to solve exactly this problem — with precision, speed, and a relationship built to last.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ABOUT APPSTUDIOX</a:t>
            </a:r>
          </a:p>
        </p:txBody>
      </p:sp>
      <p:sp>
        <p:nvSpPr>
          <p:cNvPr id="4" name="TextBox 3"/>
          <p:cNvSpPr txBox="1"/>
          <p:nvPr/>
        </p:nvSpPr>
        <p:spPr>
          <a:xfrm>
            <a:off x="731520" y="640080"/>
            <a:ext cx="10515600" cy="1645920"/>
          </a:xfrm>
          <a:prstGeom prst="rect">
            <a:avLst/>
          </a:prstGeom>
          <a:noFill/>
        </p:spPr>
        <p:txBody>
          <a:bodyPr wrap="square">
            <a:spAutoFit/>
          </a:bodyPr>
          <a:lstStyle/>
          <a:p>
            <a:pPr algn="l">
              <a:lnSpc>
                <a:spcPct val="1200"/>
              </a:lnSpc>
            </a:pPr>
            <a:r>
              <a:rPr sz="2800" b="1" i="0">
                <a:solidFill>
                  <a:srgbClr val="FFFFFF"/>
                </a:solidFill>
                <a:latin typeface="Calibri"/>
              </a:rPr>
              <a:t>A Strategy, Analytics &amp; Growth Consulting firm
with a dedicated Technology Talent practice.</a:t>
            </a:r>
          </a:p>
        </p:txBody>
      </p:sp>
      <p:sp>
        <p:nvSpPr>
          <p:cNvPr id="5" name="Rectangle 4"/>
          <p:cNvSpPr/>
          <p:nvPr/>
        </p:nvSpPr>
        <p:spPr>
          <a:xfrm>
            <a:off x="731520" y="1874519"/>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6858000" cy="1645920"/>
          </a:xfrm>
          <a:prstGeom prst="rect">
            <a:avLst/>
          </a:prstGeom>
          <a:noFill/>
        </p:spPr>
        <p:txBody>
          <a:bodyPr wrap="square">
            <a:spAutoFit/>
          </a:bodyPr>
          <a:lstStyle/>
          <a:p>
            <a:pPr algn="l">
              <a:lnSpc>
                <a:spcPct val="1500"/>
              </a:lnSpc>
            </a:pPr>
            <a:r>
              <a:rPr sz="1200" b="0" i="0">
                <a:solidFill>
                  <a:srgbClr val="CCCCCC"/>
                </a:solidFill>
                <a:latin typeface="Calibri"/>
              </a:rPr>
              <a:t>Founded on the belief that the right people, in the right roles, is the most powerful growth lever any organisation has. We combine deep industry networks, a rigorous vetting methodology, and 23+ years of relationships with exceptional leaders across India, APAC, MENA, and the US.</a:t>
            </a:r>
          </a:p>
        </p:txBody>
      </p:sp>
      <p:sp>
        <p:nvSpPr>
          <p:cNvPr id="7" name="TextBox 6"/>
          <p:cNvSpPr txBox="1"/>
          <p:nvPr/>
        </p:nvSpPr>
        <p:spPr>
          <a:xfrm>
            <a:off x="731520" y="3840480"/>
            <a:ext cx="2560320" cy="609600"/>
          </a:xfrm>
          <a:prstGeom prst="rect">
            <a:avLst/>
          </a:prstGeom>
          <a:noFill/>
        </p:spPr>
        <p:txBody>
          <a:bodyPr wrap="square">
            <a:spAutoFit/>
          </a:bodyPr>
          <a:lstStyle/>
          <a:p>
            <a:pPr algn="l"/>
            <a:r>
              <a:rPr sz="3600" b="1" i="0">
                <a:solidFill>
                  <a:srgbClr val="C8A951"/>
                </a:solidFill>
                <a:latin typeface="Calibri"/>
              </a:rPr>
              <a:t>23+</a:t>
            </a:r>
          </a:p>
        </p:txBody>
      </p:sp>
      <p:sp>
        <p:nvSpPr>
          <p:cNvPr id="8" name="TextBox 7"/>
          <p:cNvSpPr txBox="1"/>
          <p:nvPr/>
        </p:nvSpPr>
        <p:spPr>
          <a:xfrm>
            <a:off x="731520" y="4343400"/>
            <a:ext cx="2560320" cy="254000"/>
          </a:xfrm>
          <a:prstGeom prst="rect">
            <a:avLst/>
          </a:prstGeom>
          <a:noFill/>
        </p:spPr>
        <p:txBody>
          <a:bodyPr wrap="square">
            <a:spAutoFit/>
          </a:bodyPr>
          <a:lstStyle/>
          <a:p>
            <a:pPr algn="l"/>
            <a:r>
              <a:rPr sz="1000" b="0" i="0">
                <a:solidFill>
                  <a:srgbClr val="737373"/>
                </a:solidFill>
                <a:latin typeface="Calibri"/>
              </a:rPr>
              <a:t>Years of expertise</a:t>
            </a:r>
          </a:p>
        </p:txBody>
      </p:sp>
      <p:sp>
        <p:nvSpPr>
          <p:cNvPr id="9" name="TextBox 8"/>
          <p:cNvSpPr txBox="1"/>
          <p:nvPr/>
        </p:nvSpPr>
        <p:spPr>
          <a:xfrm>
            <a:off x="3657600" y="3840480"/>
            <a:ext cx="2560320" cy="609600"/>
          </a:xfrm>
          <a:prstGeom prst="rect">
            <a:avLst/>
          </a:prstGeom>
          <a:noFill/>
        </p:spPr>
        <p:txBody>
          <a:bodyPr wrap="square">
            <a:spAutoFit/>
          </a:bodyPr>
          <a:lstStyle/>
          <a:p>
            <a:pPr algn="l"/>
            <a:r>
              <a:rPr sz="3600" b="1" i="0">
                <a:solidFill>
                  <a:srgbClr val="C8A951"/>
                </a:solidFill>
                <a:latin typeface="Calibri"/>
              </a:rPr>
              <a:t>47+</a:t>
            </a:r>
          </a:p>
        </p:txBody>
      </p:sp>
      <p:sp>
        <p:nvSpPr>
          <p:cNvPr id="10" name="TextBox 9"/>
          <p:cNvSpPr txBox="1"/>
          <p:nvPr/>
        </p:nvSpPr>
        <p:spPr>
          <a:xfrm>
            <a:off x="3657600" y="4343400"/>
            <a:ext cx="2560320" cy="254000"/>
          </a:xfrm>
          <a:prstGeom prst="rect">
            <a:avLst/>
          </a:prstGeom>
          <a:noFill/>
        </p:spPr>
        <p:txBody>
          <a:bodyPr wrap="square">
            <a:spAutoFit/>
          </a:bodyPr>
          <a:lstStyle/>
          <a:p>
            <a:pPr algn="l"/>
            <a:r>
              <a:rPr sz="1000" b="0" i="0">
                <a:solidFill>
                  <a:srgbClr val="737373"/>
                </a:solidFill>
                <a:latin typeface="Calibri"/>
              </a:rPr>
              <a:t>Iconic brands served</a:t>
            </a:r>
          </a:p>
        </p:txBody>
      </p:sp>
      <p:sp>
        <p:nvSpPr>
          <p:cNvPr id="11" name="TextBox 10"/>
          <p:cNvSpPr txBox="1"/>
          <p:nvPr/>
        </p:nvSpPr>
        <p:spPr>
          <a:xfrm>
            <a:off x="731520" y="5120640"/>
            <a:ext cx="2560320" cy="609600"/>
          </a:xfrm>
          <a:prstGeom prst="rect">
            <a:avLst/>
          </a:prstGeom>
          <a:noFill/>
        </p:spPr>
        <p:txBody>
          <a:bodyPr wrap="square">
            <a:spAutoFit/>
          </a:bodyPr>
          <a:lstStyle/>
          <a:p>
            <a:pPr algn="l"/>
            <a:r>
              <a:rPr sz="3600" b="1" i="0">
                <a:solidFill>
                  <a:srgbClr val="C8A951"/>
                </a:solidFill>
                <a:latin typeface="Calibri"/>
              </a:rPr>
              <a:t>6</a:t>
            </a:r>
          </a:p>
        </p:txBody>
      </p:sp>
      <p:sp>
        <p:nvSpPr>
          <p:cNvPr id="12" name="TextBox 11"/>
          <p:cNvSpPr txBox="1"/>
          <p:nvPr/>
        </p:nvSpPr>
        <p:spPr>
          <a:xfrm>
            <a:off x="731520" y="5623560"/>
            <a:ext cx="2560320" cy="254000"/>
          </a:xfrm>
          <a:prstGeom prst="rect">
            <a:avLst/>
          </a:prstGeom>
          <a:noFill/>
        </p:spPr>
        <p:txBody>
          <a:bodyPr wrap="square">
            <a:spAutoFit/>
          </a:bodyPr>
          <a:lstStyle/>
          <a:p>
            <a:pPr algn="l"/>
            <a:r>
              <a:rPr sz="1000" b="0" i="0">
                <a:solidFill>
                  <a:srgbClr val="737373"/>
                </a:solidFill>
                <a:latin typeface="Calibri"/>
              </a:rPr>
              <a:t>Global offices</a:t>
            </a:r>
          </a:p>
        </p:txBody>
      </p:sp>
      <p:sp>
        <p:nvSpPr>
          <p:cNvPr id="13" name="TextBox 12"/>
          <p:cNvSpPr txBox="1"/>
          <p:nvPr/>
        </p:nvSpPr>
        <p:spPr>
          <a:xfrm>
            <a:off x="3657600" y="5120640"/>
            <a:ext cx="2560320" cy="609600"/>
          </a:xfrm>
          <a:prstGeom prst="rect">
            <a:avLst/>
          </a:prstGeom>
          <a:noFill/>
        </p:spPr>
        <p:txBody>
          <a:bodyPr wrap="square">
            <a:spAutoFit/>
          </a:bodyPr>
          <a:lstStyle/>
          <a:p>
            <a:pPr algn="l"/>
            <a:r>
              <a:rPr sz="3600" b="1" i="0">
                <a:solidFill>
                  <a:srgbClr val="C8A951"/>
                </a:solidFill>
                <a:latin typeface="Calibri"/>
              </a:rPr>
              <a:t>4</a:t>
            </a:r>
          </a:p>
        </p:txBody>
      </p:sp>
      <p:sp>
        <p:nvSpPr>
          <p:cNvPr id="14" name="TextBox 13"/>
          <p:cNvSpPr txBox="1"/>
          <p:nvPr/>
        </p:nvSpPr>
        <p:spPr>
          <a:xfrm>
            <a:off x="3657600" y="5623560"/>
            <a:ext cx="2560320" cy="254000"/>
          </a:xfrm>
          <a:prstGeom prst="rect">
            <a:avLst/>
          </a:prstGeom>
          <a:noFill/>
        </p:spPr>
        <p:txBody>
          <a:bodyPr wrap="square">
            <a:spAutoFit/>
          </a:bodyPr>
          <a:lstStyle/>
          <a:p>
            <a:pPr algn="l"/>
            <a:r>
              <a:rPr sz="1000" b="0" i="0">
                <a:solidFill>
                  <a:srgbClr val="737373"/>
                </a:solidFill>
                <a:latin typeface="Calibri"/>
              </a:rPr>
              <a:t>Countries with active operations</a:t>
            </a:r>
          </a:p>
        </p:txBody>
      </p:sp>
      <p:sp>
        <p:nvSpPr>
          <p:cNvPr id="15" name="Rectangle 14"/>
          <p:cNvSpPr/>
          <p:nvPr/>
        </p:nvSpPr>
        <p:spPr>
          <a:xfrm>
            <a:off x="8046720" y="2011680"/>
            <a:ext cx="3931920" cy="43891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194560"/>
            <a:ext cx="3474720" cy="254000"/>
          </a:xfrm>
          <a:prstGeom prst="rect">
            <a:avLst/>
          </a:prstGeom>
          <a:noFill/>
        </p:spPr>
        <p:txBody>
          <a:bodyPr wrap="square">
            <a:spAutoFit/>
          </a:bodyPr>
          <a:lstStyle/>
          <a:p>
            <a:pPr algn="l"/>
            <a:r>
              <a:rPr sz="900" b="1" i="0">
                <a:solidFill>
                  <a:srgbClr val="C8A951"/>
                </a:solidFill>
                <a:latin typeface="Calibri"/>
              </a:rPr>
              <a:t>Offices</a:t>
            </a:r>
          </a:p>
        </p:txBody>
      </p:sp>
      <p:sp>
        <p:nvSpPr>
          <p:cNvPr id="17" name="TextBox 16"/>
          <p:cNvSpPr txBox="1"/>
          <p:nvPr/>
        </p:nvSpPr>
        <p:spPr>
          <a:xfrm>
            <a:off x="8229600" y="2560320"/>
            <a:ext cx="3474720" cy="254000"/>
          </a:xfrm>
          <a:prstGeom prst="rect">
            <a:avLst/>
          </a:prstGeom>
          <a:noFill/>
        </p:spPr>
        <p:txBody>
          <a:bodyPr wrap="square">
            <a:spAutoFit/>
          </a:bodyPr>
          <a:lstStyle/>
          <a:p>
            <a:pPr algn="l"/>
            <a:r>
              <a:rPr sz="1000" b="0" i="0">
                <a:solidFill>
                  <a:srgbClr val="CCCCCC"/>
                </a:solidFill>
                <a:latin typeface="Calibri"/>
              </a:rPr>
              <a:t>🇮🇳  Hyderabad (HQ)  ·  Bengaluru  ·  Noida</a:t>
            </a:r>
          </a:p>
        </p:txBody>
      </p:sp>
      <p:sp>
        <p:nvSpPr>
          <p:cNvPr id="18" name="TextBox 17"/>
          <p:cNvSpPr txBox="1"/>
          <p:nvPr/>
        </p:nvSpPr>
        <p:spPr>
          <a:xfrm>
            <a:off x="8229600" y="3108960"/>
            <a:ext cx="3474720" cy="254000"/>
          </a:xfrm>
          <a:prstGeom prst="rect">
            <a:avLst/>
          </a:prstGeom>
          <a:noFill/>
        </p:spPr>
        <p:txBody>
          <a:bodyPr wrap="square">
            <a:spAutoFit/>
          </a:bodyPr>
          <a:lstStyle/>
          <a:p>
            <a:pPr algn="l"/>
            <a:r>
              <a:rPr sz="1000" b="0" i="0">
                <a:solidFill>
                  <a:srgbClr val="CCCCCC"/>
                </a:solidFill>
                <a:latin typeface="Calibri"/>
              </a:rPr>
              <a:t>🇦🇺  Brisbane, Australia</a:t>
            </a:r>
          </a:p>
        </p:txBody>
      </p:sp>
      <p:sp>
        <p:nvSpPr>
          <p:cNvPr id="19" name="TextBox 18"/>
          <p:cNvSpPr txBox="1"/>
          <p:nvPr/>
        </p:nvSpPr>
        <p:spPr>
          <a:xfrm>
            <a:off x="8229600" y="3657600"/>
            <a:ext cx="3474720" cy="254000"/>
          </a:xfrm>
          <a:prstGeom prst="rect">
            <a:avLst/>
          </a:prstGeom>
          <a:noFill/>
        </p:spPr>
        <p:txBody>
          <a:bodyPr wrap="square">
            <a:spAutoFit/>
          </a:bodyPr>
          <a:lstStyle/>
          <a:p>
            <a:pPr algn="l"/>
            <a:r>
              <a:rPr sz="1000" b="0" i="0">
                <a:solidFill>
                  <a:srgbClr val="CCCCCC"/>
                </a:solidFill>
                <a:latin typeface="Calibri"/>
              </a:rPr>
              <a:t>🇯🇴  Amman, Jordan</a:t>
            </a:r>
          </a:p>
        </p:txBody>
      </p:sp>
      <p:sp>
        <p:nvSpPr>
          <p:cNvPr id="20" name="TextBox 19"/>
          <p:cNvSpPr txBox="1"/>
          <p:nvPr/>
        </p:nvSpPr>
        <p:spPr>
          <a:xfrm>
            <a:off x="8229600" y="4206240"/>
            <a:ext cx="3474720" cy="254000"/>
          </a:xfrm>
          <a:prstGeom prst="rect">
            <a:avLst/>
          </a:prstGeom>
          <a:noFill/>
        </p:spPr>
        <p:txBody>
          <a:bodyPr wrap="square">
            <a:spAutoFit/>
          </a:bodyPr>
          <a:lstStyle/>
          <a:p>
            <a:pPr algn="l"/>
            <a:r>
              <a:rPr sz="1000" b="0" i="0">
                <a:solidFill>
                  <a:srgbClr val="CCCCCC"/>
                </a:solidFill>
                <a:latin typeface="Calibri"/>
              </a:rPr>
              <a:t>🇺🇸  Chicago, United States</a:t>
            </a:r>
          </a:p>
        </p:txBody>
      </p:sp>
      <p:sp>
        <p:nvSpPr>
          <p:cNvPr id="21" name="TextBox 20"/>
          <p:cNvSpPr txBox="1"/>
          <p:nvPr/>
        </p:nvSpPr>
        <p:spPr>
          <a:xfrm>
            <a:off x="8229600" y="4663440"/>
            <a:ext cx="3474720" cy="254000"/>
          </a:xfrm>
          <a:prstGeom prst="rect">
            <a:avLst/>
          </a:prstGeom>
          <a:noFill/>
        </p:spPr>
        <p:txBody>
          <a:bodyPr wrap="square">
            <a:spAutoFit/>
          </a:bodyPr>
          <a:lstStyle/>
          <a:p>
            <a:pPr algn="l"/>
            <a:r>
              <a:rPr sz="900" b="1" i="0">
                <a:solidFill>
                  <a:srgbClr val="C8A951"/>
                </a:solidFill>
                <a:latin typeface="Calibri"/>
              </a:rPr>
              <a:t>Sectors Served</a:t>
            </a:r>
          </a:p>
        </p:txBody>
      </p:sp>
      <p:sp>
        <p:nvSpPr>
          <p:cNvPr id="22" name="TextBox 21"/>
          <p:cNvSpPr txBox="1"/>
          <p:nvPr/>
        </p:nvSpPr>
        <p:spPr>
          <a:xfrm>
            <a:off x="8229600" y="4937760"/>
            <a:ext cx="3474720" cy="1371600"/>
          </a:xfrm>
          <a:prstGeom prst="rect">
            <a:avLst/>
          </a:prstGeom>
          <a:noFill/>
        </p:spPr>
        <p:txBody>
          <a:bodyPr wrap="square">
            <a:spAutoFit/>
          </a:bodyPr>
          <a:lstStyle/>
          <a:p>
            <a:pPr algn="l">
              <a:lnSpc>
                <a:spcPct val="1450"/>
              </a:lnSpc>
            </a:pPr>
            <a:r>
              <a:rPr sz="1000" b="0" i="0">
                <a:solidFill>
                  <a:srgbClr val="CCCCCC"/>
                </a:solidFill>
                <a:latin typeface="Calibri"/>
              </a:rPr>
              <a:t>Technology · Media · D2C · FinTech
E-Commerce · EdTech · Healthcare
Manufacturing · BFSI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TECHNOLOGY SPECIALISATION</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150"/>
              </a:lnSpc>
            </a:pPr>
            <a:r>
              <a:rPr sz="3200" b="1" i="0">
                <a:solidFill>
                  <a:srgbClr val="0D0D0D"/>
                </a:solidFill>
                <a:latin typeface="Calibri"/>
              </a:rPr>
              <a:t>We specialise in the exact technology domains
you are hiring for.</a:t>
            </a:r>
          </a:p>
        </p:txBody>
      </p:sp>
      <p:sp>
        <p:nvSpPr>
          <p:cNvPr id="5" name="Rectangle 4"/>
          <p:cNvSpPr/>
          <p:nvPr/>
        </p:nvSpPr>
        <p:spPr>
          <a:xfrm>
            <a:off x="731520" y="169164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920240"/>
            <a:ext cx="3246120" cy="2103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32461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57400"/>
            <a:ext cx="2880360" cy="254000"/>
          </a:xfrm>
          <a:prstGeom prst="rect">
            <a:avLst/>
          </a:prstGeom>
          <a:noFill/>
        </p:spPr>
        <p:txBody>
          <a:bodyPr wrap="square">
            <a:spAutoFit/>
          </a:bodyPr>
          <a:lstStyle/>
          <a:p>
            <a:pPr algn="l"/>
            <a:r>
              <a:rPr sz="1300" b="1" i="0">
                <a:solidFill>
                  <a:srgbClr val="0D0D0D"/>
                </a:solidFill>
                <a:latin typeface="Calibri"/>
              </a:rPr>
              <a:t>.NET / C# Stack</a:t>
            </a:r>
          </a:p>
        </p:txBody>
      </p:sp>
      <p:sp>
        <p:nvSpPr>
          <p:cNvPr id="9" name="TextBox 8"/>
          <p:cNvSpPr txBox="1"/>
          <p:nvPr/>
        </p:nvSpPr>
        <p:spPr>
          <a:xfrm>
            <a:off x="914400" y="2468880"/>
            <a:ext cx="2880360" cy="1417320"/>
          </a:xfrm>
          <a:prstGeom prst="rect">
            <a:avLst/>
          </a:prstGeom>
          <a:noFill/>
        </p:spPr>
        <p:txBody>
          <a:bodyPr wrap="square">
            <a:spAutoFit/>
          </a:bodyPr>
          <a:lstStyle/>
          <a:p>
            <a:pPr algn="l">
              <a:lnSpc>
                <a:spcPct val="1400"/>
              </a:lnSpc>
            </a:pPr>
            <a:r>
              <a:rPr sz="950" b="0" i="0">
                <a:solidFill>
                  <a:srgbClr val="404040"/>
                </a:solidFill>
                <a:latin typeface="Calibri"/>
              </a:rPr>
              <a:t>ASP.NET Core · Blazor · Entity Framework
WPF / WinForms · Microservices
Mid to Principal Engineer · Architect</a:t>
            </a:r>
          </a:p>
        </p:txBody>
      </p:sp>
      <p:sp>
        <p:nvSpPr>
          <p:cNvPr id="10" name="Rectangle 9"/>
          <p:cNvSpPr/>
          <p:nvPr/>
        </p:nvSpPr>
        <p:spPr>
          <a:xfrm>
            <a:off x="4160520" y="1920240"/>
            <a:ext cx="3246120" cy="2103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0520" y="1920240"/>
            <a:ext cx="32461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2057400"/>
            <a:ext cx="2880360" cy="254000"/>
          </a:xfrm>
          <a:prstGeom prst="rect">
            <a:avLst/>
          </a:prstGeom>
          <a:noFill/>
        </p:spPr>
        <p:txBody>
          <a:bodyPr wrap="square">
            <a:spAutoFit/>
          </a:bodyPr>
          <a:lstStyle/>
          <a:p>
            <a:pPr algn="l"/>
            <a:r>
              <a:rPr sz="1300" b="1" i="0">
                <a:solidFill>
                  <a:srgbClr val="0D0D0D"/>
                </a:solidFill>
                <a:latin typeface="Calibri"/>
              </a:rPr>
              <a:t>Java Ecosystem</a:t>
            </a:r>
          </a:p>
        </p:txBody>
      </p:sp>
      <p:sp>
        <p:nvSpPr>
          <p:cNvPr id="13" name="TextBox 12"/>
          <p:cNvSpPr txBox="1"/>
          <p:nvPr/>
        </p:nvSpPr>
        <p:spPr>
          <a:xfrm>
            <a:off x="4343400" y="2468880"/>
            <a:ext cx="2880360" cy="1417320"/>
          </a:xfrm>
          <a:prstGeom prst="rect">
            <a:avLst/>
          </a:prstGeom>
          <a:noFill/>
        </p:spPr>
        <p:txBody>
          <a:bodyPr wrap="square">
            <a:spAutoFit/>
          </a:bodyPr>
          <a:lstStyle/>
          <a:p>
            <a:pPr algn="l">
              <a:lnSpc>
                <a:spcPct val="1400"/>
              </a:lnSpc>
            </a:pPr>
            <a:r>
              <a:rPr sz="950" b="0" i="0">
                <a:solidFill>
                  <a:srgbClr val="404040"/>
                </a:solidFill>
                <a:latin typeface="Calibri"/>
              </a:rPr>
              <a:t>Spring Boot · Spring Cloud · Hibernate
Apache Kafka · Microservices Architecture
Sr Engineer · Lead · Principal · Architect</a:t>
            </a:r>
          </a:p>
        </p:txBody>
      </p:sp>
      <p:sp>
        <p:nvSpPr>
          <p:cNvPr id="14" name="Rectangle 13"/>
          <p:cNvSpPr/>
          <p:nvPr/>
        </p:nvSpPr>
        <p:spPr>
          <a:xfrm>
            <a:off x="7589520" y="1920240"/>
            <a:ext cx="3246120" cy="2103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89520" y="1920240"/>
            <a:ext cx="32461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2057400"/>
            <a:ext cx="2880360" cy="254000"/>
          </a:xfrm>
          <a:prstGeom prst="rect">
            <a:avLst/>
          </a:prstGeom>
          <a:noFill/>
        </p:spPr>
        <p:txBody>
          <a:bodyPr wrap="square">
            <a:spAutoFit/>
          </a:bodyPr>
          <a:lstStyle/>
          <a:p>
            <a:pPr algn="l"/>
            <a:r>
              <a:rPr sz="1300" b="1" i="0">
                <a:solidFill>
                  <a:srgbClr val="0D0D0D"/>
                </a:solidFill>
                <a:latin typeface="Calibri"/>
              </a:rPr>
              <a:t>MuleSoft</a:t>
            </a:r>
          </a:p>
        </p:txBody>
      </p:sp>
      <p:sp>
        <p:nvSpPr>
          <p:cNvPr id="17" name="TextBox 16"/>
          <p:cNvSpPr txBox="1"/>
          <p:nvPr/>
        </p:nvSpPr>
        <p:spPr>
          <a:xfrm>
            <a:off x="7772400" y="2468880"/>
            <a:ext cx="2880360" cy="1417320"/>
          </a:xfrm>
          <a:prstGeom prst="rect">
            <a:avLst/>
          </a:prstGeom>
          <a:noFill/>
        </p:spPr>
        <p:txBody>
          <a:bodyPr wrap="square">
            <a:spAutoFit/>
          </a:bodyPr>
          <a:lstStyle/>
          <a:p>
            <a:pPr algn="l">
              <a:lnSpc>
                <a:spcPct val="1400"/>
              </a:lnSpc>
            </a:pPr>
            <a:r>
              <a:rPr sz="950" b="0" i="0">
                <a:solidFill>
                  <a:srgbClr val="404040"/>
                </a:solidFill>
                <a:latin typeface="Calibri"/>
              </a:rPr>
              <a:t>Anypoint Platform · API Management
Integration Architecture · RAML / OAS
Developer · Sr Developer · Architect</a:t>
            </a:r>
          </a:p>
        </p:txBody>
      </p:sp>
      <p:sp>
        <p:nvSpPr>
          <p:cNvPr id="18" name="Rectangle 17"/>
          <p:cNvSpPr/>
          <p:nvPr/>
        </p:nvSpPr>
        <p:spPr>
          <a:xfrm>
            <a:off x="731520" y="4251960"/>
            <a:ext cx="3246120" cy="2103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251960"/>
            <a:ext cx="32461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389120"/>
            <a:ext cx="2880360" cy="254000"/>
          </a:xfrm>
          <a:prstGeom prst="rect">
            <a:avLst/>
          </a:prstGeom>
          <a:noFill/>
        </p:spPr>
        <p:txBody>
          <a:bodyPr wrap="square">
            <a:spAutoFit/>
          </a:bodyPr>
          <a:lstStyle/>
          <a:p>
            <a:pPr algn="l"/>
            <a:r>
              <a:rPr sz="1300" b="1" i="0">
                <a:solidFill>
                  <a:srgbClr val="0D0D0D"/>
                </a:solidFill>
                <a:latin typeface="Calibri"/>
              </a:rPr>
              <a:t>Microsoft Azure</a:t>
            </a:r>
          </a:p>
        </p:txBody>
      </p:sp>
      <p:sp>
        <p:nvSpPr>
          <p:cNvPr id="21" name="TextBox 20"/>
          <p:cNvSpPr txBox="1"/>
          <p:nvPr/>
        </p:nvSpPr>
        <p:spPr>
          <a:xfrm>
            <a:off x="914400" y="4800600"/>
            <a:ext cx="2880360" cy="1417320"/>
          </a:xfrm>
          <a:prstGeom prst="rect">
            <a:avLst/>
          </a:prstGeom>
          <a:noFill/>
        </p:spPr>
        <p:txBody>
          <a:bodyPr wrap="square">
            <a:spAutoFit/>
          </a:bodyPr>
          <a:lstStyle/>
          <a:p>
            <a:pPr algn="l">
              <a:lnSpc>
                <a:spcPct val="1400"/>
              </a:lnSpc>
            </a:pPr>
            <a:r>
              <a:rPr sz="950" b="0" i="0">
                <a:solidFill>
                  <a:srgbClr val="404040"/>
                </a:solidFill>
                <a:latin typeface="Calibri"/>
              </a:rPr>
              <a:t>Azure Architecture · AKS · Azure Functions
DevOps · ARM / Bicep / Terraform
Cloud Engineer · Solution Architect</a:t>
            </a:r>
          </a:p>
        </p:txBody>
      </p:sp>
      <p:sp>
        <p:nvSpPr>
          <p:cNvPr id="22" name="Rectangle 21"/>
          <p:cNvSpPr/>
          <p:nvPr/>
        </p:nvSpPr>
        <p:spPr>
          <a:xfrm>
            <a:off x="4160520" y="4251960"/>
            <a:ext cx="3246120" cy="2103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60520" y="4251960"/>
            <a:ext cx="32461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4389120"/>
            <a:ext cx="2880360" cy="254000"/>
          </a:xfrm>
          <a:prstGeom prst="rect">
            <a:avLst/>
          </a:prstGeom>
          <a:noFill/>
        </p:spPr>
        <p:txBody>
          <a:bodyPr wrap="square">
            <a:spAutoFit/>
          </a:bodyPr>
          <a:lstStyle/>
          <a:p>
            <a:pPr algn="l"/>
            <a:r>
              <a:rPr sz="1300" b="1" i="0">
                <a:solidFill>
                  <a:srgbClr val="0D0D0D"/>
                </a:solidFill>
                <a:latin typeface="Calibri"/>
              </a:rPr>
              <a:t>Amazon Web Services</a:t>
            </a:r>
          </a:p>
        </p:txBody>
      </p:sp>
      <p:sp>
        <p:nvSpPr>
          <p:cNvPr id="25" name="TextBox 24"/>
          <p:cNvSpPr txBox="1"/>
          <p:nvPr/>
        </p:nvSpPr>
        <p:spPr>
          <a:xfrm>
            <a:off x="4343400" y="4800600"/>
            <a:ext cx="2880360" cy="1417320"/>
          </a:xfrm>
          <a:prstGeom prst="rect">
            <a:avLst/>
          </a:prstGeom>
          <a:noFill/>
        </p:spPr>
        <p:txBody>
          <a:bodyPr wrap="square">
            <a:spAutoFit/>
          </a:bodyPr>
          <a:lstStyle/>
          <a:p>
            <a:pPr algn="l">
              <a:lnSpc>
                <a:spcPct val="1400"/>
              </a:lnSpc>
            </a:pPr>
            <a:r>
              <a:rPr sz="950" b="0" i="0">
                <a:solidFill>
                  <a:srgbClr val="404040"/>
                </a:solidFill>
                <a:latin typeface="Calibri"/>
              </a:rPr>
              <a:t>AWS Solutions Architecture · Lambda
EKS · RDS · CloudFormation · CDK
Cloud Engineer · Sr Architect · Principal</a:t>
            </a:r>
          </a:p>
        </p:txBody>
      </p:sp>
      <p:sp>
        <p:nvSpPr>
          <p:cNvPr id="26" name="Rectangle 25"/>
          <p:cNvSpPr/>
          <p:nvPr/>
        </p:nvSpPr>
        <p:spPr>
          <a:xfrm>
            <a:off x="7589520" y="4251960"/>
            <a:ext cx="3246120" cy="2103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89520" y="4251960"/>
            <a:ext cx="324612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4389120"/>
            <a:ext cx="2880360" cy="254000"/>
          </a:xfrm>
          <a:prstGeom prst="rect">
            <a:avLst/>
          </a:prstGeom>
          <a:noFill/>
        </p:spPr>
        <p:txBody>
          <a:bodyPr wrap="square">
            <a:spAutoFit/>
          </a:bodyPr>
          <a:lstStyle/>
          <a:p>
            <a:pPr algn="l"/>
            <a:r>
              <a:rPr sz="1300" b="1" i="0">
                <a:solidFill>
                  <a:srgbClr val="0D0D0D"/>
                </a:solidFill>
                <a:latin typeface="Calibri"/>
              </a:rPr>
              <a:t>Generative AI / LLM</a:t>
            </a:r>
          </a:p>
        </p:txBody>
      </p:sp>
      <p:sp>
        <p:nvSpPr>
          <p:cNvPr id="29" name="TextBox 28"/>
          <p:cNvSpPr txBox="1"/>
          <p:nvPr/>
        </p:nvSpPr>
        <p:spPr>
          <a:xfrm>
            <a:off x="7772400" y="4800600"/>
            <a:ext cx="2880360" cy="1417320"/>
          </a:xfrm>
          <a:prstGeom prst="rect">
            <a:avLst/>
          </a:prstGeom>
          <a:noFill/>
        </p:spPr>
        <p:txBody>
          <a:bodyPr wrap="square">
            <a:spAutoFit/>
          </a:bodyPr>
          <a:lstStyle/>
          <a:p>
            <a:pPr algn="l">
              <a:lnSpc>
                <a:spcPct val="1400"/>
              </a:lnSpc>
            </a:pPr>
            <a:r>
              <a:rPr sz="950" b="0" i="0">
                <a:solidFill>
                  <a:srgbClr val="404040"/>
                </a:solidFill>
                <a:latin typeface="Calibri"/>
              </a:rPr>
              <a:t>LLM Fine-tuning · RAG Pipelines · LangChain
Vector DBs · Prompt Engineering
AI Engineer · ML Engineer · AI Architect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ROLES WE PLACE</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200"/>
              </a:lnSpc>
            </a:pPr>
            <a:r>
              <a:rPr sz="2800" b="1" i="0">
                <a:solidFill>
                  <a:srgbClr val="FFFFFF"/>
                </a:solidFill>
                <a:latin typeface="Calibri"/>
              </a:rPr>
              <a:t>From individual contributor to VP Engineering —
we cover the full technology leadership spectrum.</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1168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5029200" cy="254000"/>
          </a:xfrm>
          <a:prstGeom prst="rect">
            <a:avLst/>
          </a:prstGeom>
          <a:noFill/>
        </p:spPr>
        <p:txBody>
          <a:bodyPr wrap="square">
            <a:spAutoFit/>
          </a:bodyPr>
          <a:lstStyle/>
          <a:p>
            <a:pPr algn="l"/>
            <a:r>
              <a:rPr sz="1100" b="1" i="0">
                <a:solidFill>
                  <a:srgbClr val="FFFFFF"/>
                </a:solidFill>
                <a:latin typeface="Calibri"/>
              </a:rPr>
              <a:t>VP Engineering / VP Technology</a:t>
            </a:r>
          </a:p>
        </p:txBody>
      </p:sp>
      <p:sp>
        <p:nvSpPr>
          <p:cNvPr id="8" name="TextBox 7"/>
          <p:cNvSpPr txBox="1"/>
          <p:nvPr/>
        </p:nvSpPr>
        <p:spPr>
          <a:xfrm>
            <a:off x="868680" y="2359152"/>
            <a:ext cx="5029200" cy="254000"/>
          </a:xfrm>
          <a:prstGeom prst="rect">
            <a:avLst/>
          </a:prstGeom>
          <a:noFill/>
        </p:spPr>
        <p:txBody>
          <a:bodyPr wrap="square">
            <a:spAutoFit/>
          </a:bodyPr>
          <a:lstStyle/>
          <a:p>
            <a:pPr algn="l"/>
            <a:r>
              <a:rPr sz="900" b="0" i="0">
                <a:solidFill>
                  <a:srgbClr val="737373"/>
                </a:solidFill>
                <a:latin typeface="Calibri"/>
              </a:rPr>
              <a:t>Strategic technology leadership, P&amp;L accountability</a:t>
            </a:r>
          </a:p>
        </p:txBody>
      </p:sp>
      <p:sp>
        <p:nvSpPr>
          <p:cNvPr id="9" name="Rectangle 8"/>
          <p:cNvSpPr/>
          <p:nvPr/>
        </p:nvSpPr>
        <p:spPr>
          <a:xfrm>
            <a:off x="6400800" y="201168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57400"/>
            <a:ext cx="5029200" cy="254000"/>
          </a:xfrm>
          <a:prstGeom prst="rect">
            <a:avLst/>
          </a:prstGeom>
          <a:noFill/>
        </p:spPr>
        <p:txBody>
          <a:bodyPr wrap="square">
            <a:spAutoFit/>
          </a:bodyPr>
          <a:lstStyle/>
          <a:p>
            <a:pPr algn="l"/>
            <a:r>
              <a:rPr sz="1100" b="1" i="0">
                <a:solidFill>
                  <a:srgbClr val="FFFFFF"/>
                </a:solidFill>
                <a:latin typeface="Calibri"/>
              </a:rPr>
              <a:t>Director of Engineering</a:t>
            </a:r>
          </a:p>
        </p:txBody>
      </p:sp>
      <p:sp>
        <p:nvSpPr>
          <p:cNvPr id="11" name="TextBox 10"/>
          <p:cNvSpPr txBox="1"/>
          <p:nvPr/>
        </p:nvSpPr>
        <p:spPr>
          <a:xfrm>
            <a:off x="6537960" y="2359152"/>
            <a:ext cx="5029200" cy="254000"/>
          </a:xfrm>
          <a:prstGeom prst="rect">
            <a:avLst/>
          </a:prstGeom>
          <a:noFill/>
        </p:spPr>
        <p:txBody>
          <a:bodyPr wrap="square">
            <a:spAutoFit/>
          </a:bodyPr>
          <a:lstStyle/>
          <a:p>
            <a:pPr algn="l"/>
            <a:r>
              <a:rPr sz="900" b="0" i="0">
                <a:solidFill>
                  <a:srgbClr val="737373"/>
                </a:solidFill>
                <a:latin typeface="Calibri"/>
              </a:rPr>
              <a:t>Department head, delivery ownership, 50–200 person org</a:t>
            </a:r>
          </a:p>
        </p:txBody>
      </p:sp>
      <p:sp>
        <p:nvSpPr>
          <p:cNvPr id="12" name="Rectangle 11"/>
          <p:cNvSpPr/>
          <p:nvPr/>
        </p:nvSpPr>
        <p:spPr>
          <a:xfrm>
            <a:off x="731520" y="288036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26080"/>
            <a:ext cx="5029200" cy="254000"/>
          </a:xfrm>
          <a:prstGeom prst="rect">
            <a:avLst/>
          </a:prstGeom>
          <a:noFill/>
        </p:spPr>
        <p:txBody>
          <a:bodyPr wrap="square">
            <a:spAutoFit/>
          </a:bodyPr>
          <a:lstStyle/>
          <a:p>
            <a:pPr algn="l"/>
            <a:r>
              <a:rPr sz="1100" b="1" i="0">
                <a:solidFill>
                  <a:srgbClr val="FFFFFF"/>
                </a:solidFill>
                <a:latin typeface="Calibri"/>
              </a:rPr>
              <a:t>Senior Director of Engineering</a:t>
            </a:r>
          </a:p>
        </p:txBody>
      </p:sp>
      <p:sp>
        <p:nvSpPr>
          <p:cNvPr id="14" name="TextBox 13"/>
          <p:cNvSpPr txBox="1"/>
          <p:nvPr/>
        </p:nvSpPr>
        <p:spPr>
          <a:xfrm>
            <a:off x="868680" y="3227832"/>
            <a:ext cx="5029200" cy="254000"/>
          </a:xfrm>
          <a:prstGeom prst="rect">
            <a:avLst/>
          </a:prstGeom>
          <a:noFill/>
        </p:spPr>
        <p:txBody>
          <a:bodyPr wrap="square">
            <a:spAutoFit/>
          </a:bodyPr>
          <a:lstStyle/>
          <a:p>
            <a:pPr algn="l"/>
            <a:r>
              <a:rPr sz="900" b="0" i="0">
                <a:solidFill>
                  <a:srgbClr val="737373"/>
                </a:solidFill>
                <a:latin typeface="Calibri"/>
              </a:rPr>
              <a:t>Multi-team leadership, architecture governance</a:t>
            </a:r>
          </a:p>
        </p:txBody>
      </p:sp>
      <p:sp>
        <p:nvSpPr>
          <p:cNvPr id="15" name="Rectangle 14"/>
          <p:cNvSpPr/>
          <p:nvPr/>
        </p:nvSpPr>
        <p:spPr>
          <a:xfrm>
            <a:off x="6400800" y="288036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926080"/>
            <a:ext cx="5029200" cy="254000"/>
          </a:xfrm>
          <a:prstGeom prst="rect">
            <a:avLst/>
          </a:prstGeom>
          <a:noFill/>
        </p:spPr>
        <p:txBody>
          <a:bodyPr wrap="square">
            <a:spAutoFit/>
          </a:bodyPr>
          <a:lstStyle/>
          <a:p>
            <a:pPr algn="l"/>
            <a:r>
              <a:rPr sz="1100" b="1" i="0">
                <a:solidFill>
                  <a:srgbClr val="FFFFFF"/>
                </a:solidFill>
                <a:latin typeface="Calibri"/>
              </a:rPr>
              <a:t>Principal / Staff Engineer</a:t>
            </a:r>
          </a:p>
        </p:txBody>
      </p:sp>
      <p:sp>
        <p:nvSpPr>
          <p:cNvPr id="17" name="TextBox 16"/>
          <p:cNvSpPr txBox="1"/>
          <p:nvPr/>
        </p:nvSpPr>
        <p:spPr>
          <a:xfrm>
            <a:off x="6537960" y="3227832"/>
            <a:ext cx="5029200" cy="254000"/>
          </a:xfrm>
          <a:prstGeom prst="rect">
            <a:avLst/>
          </a:prstGeom>
          <a:noFill/>
        </p:spPr>
        <p:txBody>
          <a:bodyPr wrap="square">
            <a:spAutoFit/>
          </a:bodyPr>
          <a:lstStyle/>
          <a:p>
            <a:pPr algn="l"/>
            <a:r>
              <a:rPr sz="900" b="0" i="0">
                <a:solidFill>
                  <a:srgbClr val="737373"/>
                </a:solidFill>
                <a:latin typeface="Calibri"/>
              </a:rPr>
              <a:t>Technical authority, architecture decisions, mentorship</a:t>
            </a:r>
          </a:p>
        </p:txBody>
      </p:sp>
      <p:sp>
        <p:nvSpPr>
          <p:cNvPr id="18" name="Rectangle 17"/>
          <p:cNvSpPr/>
          <p:nvPr/>
        </p:nvSpPr>
        <p:spPr>
          <a:xfrm>
            <a:off x="731520" y="374904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94760"/>
            <a:ext cx="5029200" cy="254000"/>
          </a:xfrm>
          <a:prstGeom prst="rect">
            <a:avLst/>
          </a:prstGeom>
          <a:noFill/>
        </p:spPr>
        <p:txBody>
          <a:bodyPr wrap="square">
            <a:spAutoFit/>
          </a:bodyPr>
          <a:lstStyle/>
          <a:p>
            <a:pPr algn="l"/>
            <a:r>
              <a:rPr sz="1100" b="1" i="0">
                <a:solidFill>
                  <a:srgbClr val="FFFFFF"/>
                </a:solidFill>
                <a:latin typeface="Calibri"/>
              </a:rPr>
              <a:t>Solution Architect (Azure / AWS)</a:t>
            </a:r>
          </a:p>
        </p:txBody>
      </p:sp>
      <p:sp>
        <p:nvSpPr>
          <p:cNvPr id="20" name="TextBox 19"/>
          <p:cNvSpPr txBox="1"/>
          <p:nvPr/>
        </p:nvSpPr>
        <p:spPr>
          <a:xfrm>
            <a:off x="868680" y="4096512"/>
            <a:ext cx="5029200" cy="254000"/>
          </a:xfrm>
          <a:prstGeom prst="rect">
            <a:avLst/>
          </a:prstGeom>
          <a:noFill/>
        </p:spPr>
        <p:txBody>
          <a:bodyPr wrap="square">
            <a:spAutoFit/>
          </a:bodyPr>
          <a:lstStyle/>
          <a:p>
            <a:pPr algn="l"/>
            <a:r>
              <a:rPr sz="900" b="0" i="0">
                <a:solidFill>
                  <a:srgbClr val="737373"/>
                </a:solidFill>
                <a:latin typeface="Calibri"/>
              </a:rPr>
              <a:t>Enterprise architecture, cloud strategy, design authority</a:t>
            </a:r>
          </a:p>
        </p:txBody>
      </p:sp>
      <p:sp>
        <p:nvSpPr>
          <p:cNvPr id="21" name="Rectangle 20"/>
          <p:cNvSpPr/>
          <p:nvPr/>
        </p:nvSpPr>
        <p:spPr>
          <a:xfrm>
            <a:off x="6400800" y="374904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3794760"/>
            <a:ext cx="5029200" cy="254000"/>
          </a:xfrm>
          <a:prstGeom prst="rect">
            <a:avLst/>
          </a:prstGeom>
          <a:noFill/>
        </p:spPr>
        <p:txBody>
          <a:bodyPr wrap="square">
            <a:spAutoFit/>
          </a:bodyPr>
          <a:lstStyle/>
          <a:p>
            <a:pPr algn="l"/>
            <a:r>
              <a:rPr sz="1100" b="1" i="0">
                <a:solidFill>
                  <a:srgbClr val="FFFFFF"/>
                </a:solidFill>
                <a:latin typeface="Calibri"/>
              </a:rPr>
              <a:t>MuleSoft Integration Architect</a:t>
            </a:r>
          </a:p>
        </p:txBody>
      </p:sp>
      <p:sp>
        <p:nvSpPr>
          <p:cNvPr id="23" name="TextBox 22"/>
          <p:cNvSpPr txBox="1"/>
          <p:nvPr/>
        </p:nvSpPr>
        <p:spPr>
          <a:xfrm>
            <a:off x="6537960" y="4096512"/>
            <a:ext cx="5029200" cy="254000"/>
          </a:xfrm>
          <a:prstGeom prst="rect">
            <a:avLst/>
          </a:prstGeom>
          <a:noFill/>
        </p:spPr>
        <p:txBody>
          <a:bodyPr wrap="square">
            <a:spAutoFit/>
          </a:bodyPr>
          <a:lstStyle/>
          <a:p>
            <a:pPr algn="l"/>
            <a:r>
              <a:rPr sz="900" b="0" i="0">
                <a:solidFill>
                  <a:srgbClr val="737373"/>
                </a:solidFill>
                <a:latin typeface="Calibri"/>
              </a:rPr>
              <a:t>Integration strategy, Anypoint platform ownership</a:t>
            </a:r>
          </a:p>
        </p:txBody>
      </p:sp>
      <p:sp>
        <p:nvSpPr>
          <p:cNvPr id="24" name="Rectangle 23"/>
          <p:cNvSpPr/>
          <p:nvPr/>
        </p:nvSpPr>
        <p:spPr>
          <a:xfrm>
            <a:off x="731520" y="461772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663440"/>
            <a:ext cx="5029200" cy="254000"/>
          </a:xfrm>
          <a:prstGeom prst="rect">
            <a:avLst/>
          </a:prstGeom>
          <a:noFill/>
        </p:spPr>
        <p:txBody>
          <a:bodyPr wrap="square">
            <a:spAutoFit/>
          </a:bodyPr>
          <a:lstStyle/>
          <a:p>
            <a:pPr algn="l"/>
            <a:r>
              <a:rPr sz="1100" b="1" i="0">
                <a:solidFill>
                  <a:srgbClr val="FFFFFF"/>
                </a:solidFill>
                <a:latin typeface="Calibri"/>
              </a:rPr>
              <a:t>Senior Java / .NET Engineer</a:t>
            </a:r>
          </a:p>
        </p:txBody>
      </p:sp>
      <p:sp>
        <p:nvSpPr>
          <p:cNvPr id="26" name="TextBox 25"/>
          <p:cNvSpPr txBox="1"/>
          <p:nvPr/>
        </p:nvSpPr>
        <p:spPr>
          <a:xfrm>
            <a:off x="868680" y="4965192"/>
            <a:ext cx="5029200" cy="254000"/>
          </a:xfrm>
          <a:prstGeom prst="rect">
            <a:avLst/>
          </a:prstGeom>
          <a:noFill/>
        </p:spPr>
        <p:txBody>
          <a:bodyPr wrap="square">
            <a:spAutoFit/>
          </a:bodyPr>
          <a:lstStyle/>
          <a:p>
            <a:pPr algn="l"/>
            <a:r>
              <a:rPr sz="900" b="0" i="0">
                <a:solidFill>
                  <a:srgbClr val="737373"/>
                </a:solidFill>
                <a:latin typeface="Calibri"/>
              </a:rPr>
              <a:t>Complex system design, team technical lead capability</a:t>
            </a:r>
          </a:p>
        </p:txBody>
      </p:sp>
      <p:sp>
        <p:nvSpPr>
          <p:cNvPr id="27" name="Rectangle 26"/>
          <p:cNvSpPr/>
          <p:nvPr/>
        </p:nvSpPr>
        <p:spPr>
          <a:xfrm>
            <a:off x="6400800" y="461772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663440"/>
            <a:ext cx="5029200" cy="254000"/>
          </a:xfrm>
          <a:prstGeom prst="rect">
            <a:avLst/>
          </a:prstGeom>
          <a:noFill/>
        </p:spPr>
        <p:txBody>
          <a:bodyPr wrap="square">
            <a:spAutoFit/>
          </a:bodyPr>
          <a:lstStyle/>
          <a:p>
            <a:pPr algn="l"/>
            <a:r>
              <a:rPr sz="1100" b="1" i="0">
                <a:solidFill>
                  <a:srgbClr val="FFFFFF"/>
                </a:solidFill>
                <a:latin typeface="Calibri"/>
              </a:rPr>
              <a:t>Generative AI / LLM Engineer</a:t>
            </a:r>
          </a:p>
        </p:txBody>
      </p:sp>
      <p:sp>
        <p:nvSpPr>
          <p:cNvPr id="29" name="TextBox 28"/>
          <p:cNvSpPr txBox="1"/>
          <p:nvPr/>
        </p:nvSpPr>
        <p:spPr>
          <a:xfrm>
            <a:off x="6537960" y="4965192"/>
            <a:ext cx="5029200" cy="254000"/>
          </a:xfrm>
          <a:prstGeom prst="rect">
            <a:avLst/>
          </a:prstGeom>
          <a:noFill/>
        </p:spPr>
        <p:txBody>
          <a:bodyPr wrap="square">
            <a:spAutoFit/>
          </a:bodyPr>
          <a:lstStyle/>
          <a:p>
            <a:pPr algn="l"/>
            <a:r>
              <a:rPr sz="900" b="0" i="0">
                <a:solidFill>
                  <a:srgbClr val="737373"/>
                </a:solidFill>
                <a:latin typeface="Calibri"/>
              </a:rPr>
              <a:t>LLM applications, RAG pipelines, AI product development</a:t>
            </a:r>
          </a:p>
        </p:txBody>
      </p:sp>
      <p:sp>
        <p:nvSpPr>
          <p:cNvPr id="30" name="Rectangle 29"/>
          <p:cNvSpPr/>
          <p:nvPr/>
        </p:nvSpPr>
        <p:spPr>
          <a:xfrm>
            <a:off x="731520" y="548640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532120"/>
            <a:ext cx="5029200" cy="254000"/>
          </a:xfrm>
          <a:prstGeom prst="rect">
            <a:avLst/>
          </a:prstGeom>
          <a:noFill/>
        </p:spPr>
        <p:txBody>
          <a:bodyPr wrap="square">
            <a:spAutoFit/>
          </a:bodyPr>
          <a:lstStyle/>
          <a:p>
            <a:pPr algn="l"/>
            <a:r>
              <a:rPr sz="1100" b="1" i="0">
                <a:solidFill>
                  <a:srgbClr val="FFFFFF"/>
                </a:solidFill>
                <a:latin typeface="Calibri"/>
              </a:rPr>
              <a:t>DevOps / Platform Engineer</a:t>
            </a:r>
          </a:p>
        </p:txBody>
      </p:sp>
      <p:sp>
        <p:nvSpPr>
          <p:cNvPr id="32" name="TextBox 31"/>
          <p:cNvSpPr txBox="1"/>
          <p:nvPr/>
        </p:nvSpPr>
        <p:spPr>
          <a:xfrm>
            <a:off x="868680" y="5833872"/>
            <a:ext cx="5029200" cy="254000"/>
          </a:xfrm>
          <a:prstGeom prst="rect">
            <a:avLst/>
          </a:prstGeom>
          <a:noFill/>
        </p:spPr>
        <p:txBody>
          <a:bodyPr wrap="square">
            <a:spAutoFit/>
          </a:bodyPr>
          <a:lstStyle/>
          <a:p>
            <a:pPr algn="l"/>
            <a:r>
              <a:rPr sz="900" b="0" i="0">
                <a:solidFill>
                  <a:srgbClr val="737373"/>
                </a:solidFill>
                <a:latin typeface="Calibri"/>
              </a:rPr>
              <a:t>CI/CD, Kubernetes, infrastructure-as-code</a:t>
            </a:r>
          </a:p>
        </p:txBody>
      </p:sp>
      <p:sp>
        <p:nvSpPr>
          <p:cNvPr id="33" name="Rectangle 32"/>
          <p:cNvSpPr/>
          <p:nvPr/>
        </p:nvSpPr>
        <p:spPr>
          <a:xfrm>
            <a:off x="6400800" y="5486400"/>
            <a:ext cx="5303520" cy="74980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5532120"/>
            <a:ext cx="5029200" cy="254000"/>
          </a:xfrm>
          <a:prstGeom prst="rect">
            <a:avLst/>
          </a:prstGeom>
          <a:noFill/>
        </p:spPr>
        <p:txBody>
          <a:bodyPr wrap="square">
            <a:spAutoFit/>
          </a:bodyPr>
          <a:lstStyle/>
          <a:p>
            <a:pPr algn="l"/>
            <a:r>
              <a:rPr sz="1100" b="1" i="0">
                <a:solidFill>
                  <a:srgbClr val="FFFFFF"/>
                </a:solidFill>
                <a:latin typeface="Calibri"/>
              </a:rPr>
              <a:t>Lead Engineer (.NET / Java)</a:t>
            </a:r>
          </a:p>
        </p:txBody>
      </p:sp>
      <p:sp>
        <p:nvSpPr>
          <p:cNvPr id="35" name="TextBox 34"/>
          <p:cNvSpPr txBox="1"/>
          <p:nvPr/>
        </p:nvSpPr>
        <p:spPr>
          <a:xfrm>
            <a:off x="6537960" y="5833872"/>
            <a:ext cx="5029200" cy="254000"/>
          </a:xfrm>
          <a:prstGeom prst="rect">
            <a:avLst/>
          </a:prstGeom>
          <a:noFill/>
        </p:spPr>
        <p:txBody>
          <a:bodyPr wrap="square">
            <a:spAutoFit/>
          </a:bodyPr>
          <a:lstStyle/>
          <a:p>
            <a:pPr algn="l"/>
            <a:r>
              <a:rPr sz="900" b="0" i="0">
                <a:solidFill>
                  <a:srgbClr val="737373"/>
                </a:solidFill>
                <a:latin typeface="Calibri"/>
              </a:rPr>
              <a:t>Team lead, full delivery ownership, 5–15 engineers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OUR TALENT NETWORK</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150"/>
              </a:lnSpc>
            </a:pPr>
            <a:r>
              <a:rPr sz="3200" b="1" i="0">
                <a:solidFill>
                  <a:srgbClr val="0D0D0D"/>
                </a:solidFill>
                <a:latin typeface="Calibri"/>
              </a:rPr>
              <a:t>23 years of relationships. Not a database.
Not a job board. A network.</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7132320" cy="1463040"/>
          </a:xfrm>
          <a:prstGeom prst="rect">
            <a:avLst/>
          </a:prstGeom>
          <a:noFill/>
        </p:spPr>
        <p:txBody>
          <a:bodyPr wrap="square">
            <a:spAutoFit/>
          </a:bodyPr>
          <a:lstStyle/>
          <a:p>
            <a:pPr algn="l">
              <a:lnSpc>
                <a:spcPct val="1500"/>
              </a:lnSpc>
            </a:pPr>
            <a:r>
              <a:rPr sz="1200" b="0" i="0">
                <a:solidFill>
                  <a:srgbClr val="404040"/>
                </a:solidFill>
                <a:latin typeface="Calibri"/>
              </a:rPr>
              <a:t>The best technology talent is not on Naukri. They are not actively applying. They are building products, leading teams, and looking only when the right opportunity finds them through the right relationship. Our network of 23+ years gives us direct access to exactly these people.</a:t>
            </a:r>
          </a:p>
        </p:txBody>
      </p:sp>
      <p:sp>
        <p:nvSpPr>
          <p:cNvPr id="7" name="Rectangle 6"/>
          <p:cNvSpPr/>
          <p:nvPr/>
        </p:nvSpPr>
        <p:spPr>
          <a:xfrm>
            <a:off x="731520" y="3520440"/>
            <a:ext cx="5394960" cy="123444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520440"/>
            <a:ext cx="50800" cy="12344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11880"/>
            <a:ext cx="4937760" cy="254000"/>
          </a:xfrm>
          <a:prstGeom prst="rect">
            <a:avLst/>
          </a:prstGeom>
          <a:noFill/>
        </p:spPr>
        <p:txBody>
          <a:bodyPr wrap="square">
            <a:spAutoFit/>
          </a:bodyPr>
          <a:lstStyle/>
          <a:p>
            <a:pPr algn="l"/>
            <a:r>
              <a:rPr sz="1200" b="1" i="0">
                <a:solidFill>
                  <a:srgbClr val="0D0D0D"/>
                </a:solidFill>
                <a:latin typeface="Calibri"/>
              </a:rPr>
              <a:t>Pan-India Coverage</a:t>
            </a:r>
          </a:p>
        </p:txBody>
      </p:sp>
      <p:sp>
        <p:nvSpPr>
          <p:cNvPr id="10" name="TextBox 9"/>
          <p:cNvSpPr txBox="1"/>
          <p:nvPr/>
        </p:nvSpPr>
        <p:spPr>
          <a:xfrm>
            <a:off x="960120" y="3959352"/>
            <a:ext cx="4937760" cy="731520"/>
          </a:xfrm>
          <a:prstGeom prst="rect">
            <a:avLst/>
          </a:prstGeom>
          <a:noFill/>
        </p:spPr>
        <p:txBody>
          <a:bodyPr wrap="square">
            <a:spAutoFit/>
          </a:bodyPr>
          <a:lstStyle/>
          <a:p>
            <a:pPr algn="l">
              <a:lnSpc>
                <a:spcPct val="1350"/>
              </a:lnSpc>
            </a:pPr>
            <a:r>
              <a:rPr sz="950" b="0" i="0">
                <a:solidFill>
                  <a:srgbClr val="404040"/>
                </a:solidFill>
                <a:latin typeface="Calibri"/>
              </a:rPr>
              <a:t>Hyderabad · Bengaluru · Pune · Mumbai · Delhi / NCR — the five major tech talent hubs, all deeply networked.</a:t>
            </a:r>
          </a:p>
        </p:txBody>
      </p:sp>
      <p:sp>
        <p:nvSpPr>
          <p:cNvPr id="11" name="Rectangle 10"/>
          <p:cNvSpPr/>
          <p:nvPr/>
        </p:nvSpPr>
        <p:spPr>
          <a:xfrm>
            <a:off x="6400800" y="3520440"/>
            <a:ext cx="5394960" cy="123444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3520440"/>
            <a:ext cx="50800" cy="12344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611880"/>
            <a:ext cx="4937760" cy="254000"/>
          </a:xfrm>
          <a:prstGeom prst="rect">
            <a:avLst/>
          </a:prstGeom>
          <a:noFill/>
        </p:spPr>
        <p:txBody>
          <a:bodyPr wrap="square">
            <a:spAutoFit/>
          </a:bodyPr>
          <a:lstStyle/>
          <a:p>
            <a:pPr algn="l"/>
            <a:r>
              <a:rPr sz="1200" b="1" i="0">
                <a:solidFill>
                  <a:srgbClr val="0D0D0D"/>
                </a:solidFill>
                <a:latin typeface="Calibri"/>
              </a:rPr>
              <a:t>Passive Candidate Access</a:t>
            </a:r>
          </a:p>
        </p:txBody>
      </p:sp>
      <p:sp>
        <p:nvSpPr>
          <p:cNvPr id="14" name="TextBox 13"/>
          <p:cNvSpPr txBox="1"/>
          <p:nvPr/>
        </p:nvSpPr>
        <p:spPr>
          <a:xfrm>
            <a:off x="6629400" y="3959352"/>
            <a:ext cx="4937760" cy="731520"/>
          </a:xfrm>
          <a:prstGeom prst="rect">
            <a:avLst/>
          </a:prstGeom>
          <a:noFill/>
        </p:spPr>
        <p:txBody>
          <a:bodyPr wrap="square">
            <a:spAutoFit/>
          </a:bodyPr>
          <a:lstStyle/>
          <a:p>
            <a:pPr algn="l">
              <a:lnSpc>
                <a:spcPct val="1350"/>
              </a:lnSpc>
            </a:pPr>
            <a:r>
              <a:rPr sz="950" b="0" i="0">
                <a:solidFill>
                  <a:srgbClr val="404040"/>
                </a:solidFill>
                <a:latin typeface="Calibri"/>
              </a:rPr>
              <a:t>70%+ of the candidates we place were not actively looking. We approach; we don't post and pray.</a:t>
            </a:r>
          </a:p>
        </p:txBody>
      </p:sp>
      <p:sp>
        <p:nvSpPr>
          <p:cNvPr id="15" name="Rectangle 14"/>
          <p:cNvSpPr/>
          <p:nvPr/>
        </p:nvSpPr>
        <p:spPr>
          <a:xfrm>
            <a:off x="731520" y="4937760"/>
            <a:ext cx="5394960" cy="123444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937760"/>
            <a:ext cx="50800" cy="12344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029200"/>
            <a:ext cx="4937760" cy="254000"/>
          </a:xfrm>
          <a:prstGeom prst="rect">
            <a:avLst/>
          </a:prstGeom>
          <a:noFill/>
        </p:spPr>
        <p:txBody>
          <a:bodyPr wrap="square">
            <a:spAutoFit/>
          </a:bodyPr>
          <a:lstStyle/>
          <a:p>
            <a:pPr algn="l"/>
            <a:r>
              <a:rPr sz="1200" b="1" i="0">
                <a:solidFill>
                  <a:srgbClr val="0D0D0D"/>
                </a:solidFill>
                <a:latin typeface="Calibri"/>
              </a:rPr>
              <a:t>Referral &amp; Community Depth</a:t>
            </a:r>
          </a:p>
        </p:txBody>
      </p:sp>
      <p:sp>
        <p:nvSpPr>
          <p:cNvPr id="18" name="TextBox 17"/>
          <p:cNvSpPr txBox="1"/>
          <p:nvPr/>
        </p:nvSpPr>
        <p:spPr>
          <a:xfrm>
            <a:off x="960120" y="5376672"/>
            <a:ext cx="4937760" cy="731520"/>
          </a:xfrm>
          <a:prstGeom prst="rect">
            <a:avLst/>
          </a:prstGeom>
          <a:noFill/>
        </p:spPr>
        <p:txBody>
          <a:bodyPr wrap="square">
            <a:spAutoFit/>
          </a:bodyPr>
          <a:lstStyle/>
          <a:p>
            <a:pPr algn="l">
              <a:lnSpc>
                <a:spcPct val="1350"/>
              </a:lnSpc>
            </a:pPr>
            <a:r>
              <a:rPr sz="950" b="0" i="0">
                <a:solidFill>
                  <a:srgbClr val="404040"/>
                </a:solidFill>
                <a:latin typeface="Calibri"/>
              </a:rPr>
              <a:t>Strong relationships with CTOs, VPs, and senior engineers who refer their best peers — the talent that never appears on a job board.</a:t>
            </a:r>
          </a:p>
        </p:txBody>
      </p:sp>
      <p:sp>
        <p:nvSpPr>
          <p:cNvPr id="19" name="Rectangle 18"/>
          <p:cNvSpPr/>
          <p:nvPr/>
        </p:nvSpPr>
        <p:spPr>
          <a:xfrm>
            <a:off x="6400800" y="4937760"/>
            <a:ext cx="5394960" cy="123444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4937760"/>
            <a:ext cx="50800" cy="12344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29400" y="5029200"/>
            <a:ext cx="4937760" cy="254000"/>
          </a:xfrm>
          <a:prstGeom prst="rect">
            <a:avLst/>
          </a:prstGeom>
          <a:noFill/>
        </p:spPr>
        <p:txBody>
          <a:bodyPr wrap="square">
            <a:spAutoFit/>
          </a:bodyPr>
          <a:lstStyle/>
          <a:p>
            <a:pPr algn="l"/>
            <a:r>
              <a:rPr sz="1200" b="1" i="0">
                <a:solidFill>
                  <a:srgbClr val="0D0D0D"/>
                </a:solidFill>
                <a:latin typeface="Calibri"/>
              </a:rPr>
              <a:t>APAC &amp; Global Reach</a:t>
            </a:r>
          </a:p>
        </p:txBody>
      </p:sp>
      <p:sp>
        <p:nvSpPr>
          <p:cNvPr id="22" name="TextBox 21"/>
          <p:cNvSpPr txBox="1"/>
          <p:nvPr/>
        </p:nvSpPr>
        <p:spPr>
          <a:xfrm>
            <a:off x="6629400" y="5376672"/>
            <a:ext cx="4937760" cy="731520"/>
          </a:xfrm>
          <a:prstGeom prst="rect">
            <a:avLst/>
          </a:prstGeom>
          <a:noFill/>
        </p:spPr>
        <p:txBody>
          <a:bodyPr wrap="square">
            <a:spAutoFit/>
          </a:bodyPr>
          <a:lstStyle/>
          <a:p>
            <a:pPr algn="l">
              <a:lnSpc>
                <a:spcPct val="1350"/>
              </a:lnSpc>
            </a:pPr>
            <a:r>
              <a:rPr sz="950" b="0" i="0">
                <a:solidFill>
                  <a:srgbClr val="404040"/>
                </a:solidFill>
                <a:latin typeface="Calibri"/>
              </a:rPr>
              <a:t>For specialised roles, we tap networks in Singapore, Australia, the Middle East, and the UK — particularly strong for GenAI and cloud architecture talent.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OUR PROCESS</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150"/>
              </a:lnSpc>
            </a:pPr>
            <a:r>
              <a:rPr sz="3200" b="1" i="0">
                <a:solidFill>
                  <a:srgbClr val="0D0D0D"/>
                </a:solidFill>
                <a:latin typeface="Calibri"/>
              </a:rPr>
              <a:t>A rigorous, relationship-first process.
From brief to offer — typically 4 to 6 weeks.</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11680"/>
            <a:ext cx="2697480" cy="42976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11680"/>
            <a:ext cx="269748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057400"/>
            <a:ext cx="731520" cy="457200"/>
          </a:xfrm>
          <a:prstGeom prst="rect">
            <a:avLst/>
          </a:prstGeom>
          <a:noFill/>
        </p:spPr>
        <p:txBody>
          <a:bodyPr wrap="square">
            <a:spAutoFit/>
          </a:bodyPr>
          <a:lstStyle/>
          <a:p>
            <a:pPr algn="l"/>
            <a:r>
              <a:rPr sz="2800" b="1" i="0">
                <a:solidFill>
                  <a:srgbClr val="E5E5E5"/>
                </a:solidFill>
                <a:latin typeface="Calibri"/>
              </a:rPr>
              <a:t>01</a:t>
            </a:r>
          </a:p>
        </p:txBody>
      </p:sp>
      <p:sp>
        <p:nvSpPr>
          <p:cNvPr id="9" name="TextBox 8"/>
          <p:cNvSpPr txBox="1"/>
          <p:nvPr/>
        </p:nvSpPr>
        <p:spPr>
          <a:xfrm>
            <a:off x="594360" y="2514600"/>
            <a:ext cx="2377440" cy="254000"/>
          </a:xfrm>
          <a:prstGeom prst="rect">
            <a:avLst/>
          </a:prstGeom>
          <a:noFill/>
        </p:spPr>
        <p:txBody>
          <a:bodyPr wrap="square">
            <a:spAutoFit/>
          </a:bodyPr>
          <a:lstStyle/>
          <a:p>
            <a:pPr algn="l"/>
            <a:r>
              <a:rPr sz="800" b="1" i="0">
                <a:solidFill>
                  <a:srgbClr val="C8A951"/>
                </a:solidFill>
                <a:latin typeface="Calibri"/>
              </a:rPr>
              <a:t>Week 1</a:t>
            </a:r>
          </a:p>
        </p:txBody>
      </p:sp>
      <p:sp>
        <p:nvSpPr>
          <p:cNvPr id="10" name="TextBox 9"/>
          <p:cNvSpPr txBox="1"/>
          <p:nvPr/>
        </p:nvSpPr>
        <p:spPr>
          <a:xfrm>
            <a:off x="594360" y="2788920"/>
            <a:ext cx="2377440" cy="304800"/>
          </a:xfrm>
          <a:prstGeom prst="rect">
            <a:avLst/>
          </a:prstGeom>
          <a:noFill/>
        </p:spPr>
        <p:txBody>
          <a:bodyPr wrap="square">
            <a:spAutoFit/>
          </a:bodyPr>
          <a:lstStyle/>
          <a:p>
            <a:pPr algn="l"/>
            <a:r>
              <a:rPr sz="1300" b="1" i="0">
                <a:solidFill>
                  <a:srgbClr val="0D0D0D"/>
                </a:solidFill>
                <a:latin typeface="Calibri"/>
              </a:rPr>
              <a:t>Define the Brief</a:t>
            </a:r>
          </a:p>
        </p:txBody>
      </p:sp>
      <p:sp>
        <p:nvSpPr>
          <p:cNvPr id="11" name="TextBox 10"/>
          <p:cNvSpPr txBox="1"/>
          <p:nvPr/>
        </p:nvSpPr>
        <p:spPr>
          <a:xfrm>
            <a:off x="594360" y="3200400"/>
            <a:ext cx="2423160" cy="2926080"/>
          </a:xfrm>
          <a:prstGeom prst="rect">
            <a:avLst/>
          </a:prstGeom>
          <a:noFill/>
        </p:spPr>
        <p:txBody>
          <a:bodyPr wrap="square">
            <a:spAutoFit/>
          </a:bodyPr>
          <a:lstStyle/>
          <a:p>
            <a:pPr algn="l">
              <a:lnSpc>
                <a:spcPct val="1400"/>
              </a:lnSpc>
            </a:pPr>
            <a:r>
              <a:rPr sz="950" b="0" i="0">
                <a:solidFill>
                  <a:srgbClr val="404040"/>
                </a:solidFill>
                <a:latin typeface="Calibri"/>
              </a:rPr>
              <a:t>We spend time with your hiring managers and TA team to understand not just the role requirements, but the culture, team dynamics, technical environment, and what makes this opportunity compelling to a high-calibre candidate who isn't looking.</a:t>
            </a:r>
          </a:p>
        </p:txBody>
      </p:sp>
      <p:sp>
        <p:nvSpPr>
          <p:cNvPr id="12" name="Rectangle 11"/>
          <p:cNvSpPr/>
          <p:nvPr/>
        </p:nvSpPr>
        <p:spPr>
          <a:xfrm>
            <a:off x="3364992" y="2011680"/>
            <a:ext cx="2697480" cy="42976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4992" y="2011680"/>
            <a:ext cx="269748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2057400"/>
            <a:ext cx="731520" cy="457200"/>
          </a:xfrm>
          <a:prstGeom prst="rect">
            <a:avLst/>
          </a:prstGeom>
          <a:noFill/>
        </p:spPr>
        <p:txBody>
          <a:bodyPr wrap="square">
            <a:spAutoFit/>
          </a:bodyPr>
          <a:lstStyle/>
          <a:p>
            <a:pPr algn="l"/>
            <a:r>
              <a:rPr sz="2800" b="1" i="0">
                <a:solidFill>
                  <a:srgbClr val="E5E5E5"/>
                </a:solidFill>
                <a:latin typeface="Calibri"/>
              </a:rPr>
              <a:t>02</a:t>
            </a:r>
          </a:p>
        </p:txBody>
      </p:sp>
      <p:sp>
        <p:nvSpPr>
          <p:cNvPr id="15" name="TextBox 14"/>
          <p:cNvSpPr txBox="1"/>
          <p:nvPr/>
        </p:nvSpPr>
        <p:spPr>
          <a:xfrm>
            <a:off x="3502152" y="2514600"/>
            <a:ext cx="2377440" cy="254000"/>
          </a:xfrm>
          <a:prstGeom prst="rect">
            <a:avLst/>
          </a:prstGeom>
          <a:noFill/>
        </p:spPr>
        <p:txBody>
          <a:bodyPr wrap="square">
            <a:spAutoFit/>
          </a:bodyPr>
          <a:lstStyle/>
          <a:p>
            <a:pPr algn="l"/>
            <a:r>
              <a:rPr sz="800" b="1" i="0">
                <a:solidFill>
                  <a:srgbClr val="C8A951"/>
                </a:solidFill>
                <a:latin typeface="Calibri"/>
              </a:rPr>
              <a:t>Weeks 1–2</a:t>
            </a:r>
          </a:p>
        </p:txBody>
      </p:sp>
      <p:sp>
        <p:nvSpPr>
          <p:cNvPr id="16" name="TextBox 15"/>
          <p:cNvSpPr txBox="1"/>
          <p:nvPr/>
        </p:nvSpPr>
        <p:spPr>
          <a:xfrm>
            <a:off x="3502152" y="2788920"/>
            <a:ext cx="2377440" cy="304800"/>
          </a:xfrm>
          <a:prstGeom prst="rect">
            <a:avLst/>
          </a:prstGeom>
          <a:noFill/>
        </p:spPr>
        <p:txBody>
          <a:bodyPr wrap="square">
            <a:spAutoFit/>
          </a:bodyPr>
          <a:lstStyle/>
          <a:p>
            <a:pPr algn="l"/>
            <a:r>
              <a:rPr sz="1300" b="1" i="0">
                <a:solidFill>
                  <a:srgbClr val="0D0D0D"/>
                </a:solidFill>
                <a:latin typeface="Calibri"/>
              </a:rPr>
              <a:t>Source &amp; Map</a:t>
            </a:r>
          </a:p>
        </p:txBody>
      </p:sp>
      <p:sp>
        <p:nvSpPr>
          <p:cNvPr id="17" name="TextBox 16"/>
          <p:cNvSpPr txBox="1"/>
          <p:nvPr/>
        </p:nvSpPr>
        <p:spPr>
          <a:xfrm>
            <a:off x="3502152" y="3200400"/>
            <a:ext cx="2423160" cy="2926080"/>
          </a:xfrm>
          <a:prstGeom prst="rect">
            <a:avLst/>
          </a:prstGeom>
          <a:noFill/>
        </p:spPr>
        <p:txBody>
          <a:bodyPr wrap="square">
            <a:spAutoFit/>
          </a:bodyPr>
          <a:lstStyle/>
          <a:p>
            <a:pPr algn="l">
              <a:lnSpc>
                <a:spcPct val="1400"/>
              </a:lnSpc>
            </a:pPr>
            <a:r>
              <a:rPr sz="950" b="0" i="0">
                <a:solidFill>
                  <a:srgbClr val="404040"/>
                </a:solidFill>
                <a:latin typeface="Calibri"/>
              </a:rPr>
              <a:t>Active outreach through our networks and referral chains — not passive database matching. We approach candidates directly and present the opportunity confidentially. We typically reach candidates your existing process cannot access.</a:t>
            </a:r>
          </a:p>
        </p:txBody>
      </p:sp>
      <p:sp>
        <p:nvSpPr>
          <p:cNvPr id="18" name="Rectangle 17"/>
          <p:cNvSpPr/>
          <p:nvPr/>
        </p:nvSpPr>
        <p:spPr>
          <a:xfrm>
            <a:off x="6272784" y="2011680"/>
            <a:ext cx="2697480" cy="42976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72784" y="2011680"/>
            <a:ext cx="269748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2057400"/>
            <a:ext cx="731520" cy="457200"/>
          </a:xfrm>
          <a:prstGeom prst="rect">
            <a:avLst/>
          </a:prstGeom>
          <a:noFill/>
        </p:spPr>
        <p:txBody>
          <a:bodyPr wrap="square">
            <a:spAutoFit/>
          </a:bodyPr>
          <a:lstStyle/>
          <a:p>
            <a:pPr algn="l"/>
            <a:r>
              <a:rPr sz="2800" b="1" i="0">
                <a:solidFill>
                  <a:srgbClr val="E5E5E5"/>
                </a:solidFill>
                <a:latin typeface="Calibri"/>
              </a:rPr>
              <a:t>03</a:t>
            </a:r>
          </a:p>
        </p:txBody>
      </p:sp>
      <p:sp>
        <p:nvSpPr>
          <p:cNvPr id="21" name="TextBox 20"/>
          <p:cNvSpPr txBox="1"/>
          <p:nvPr/>
        </p:nvSpPr>
        <p:spPr>
          <a:xfrm>
            <a:off x="6409944" y="2514600"/>
            <a:ext cx="2377440" cy="254000"/>
          </a:xfrm>
          <a:prstGeom prst="rect">
            <a:avLst/>
          </a:prstGeom>
          <a:noFill/>
        </p:spPr>
        <p:txBody>
          <a:bodyPr wrap="square">
            <a:spAutoFit/>
          </a:bodyPr>
          <a:lstStyle/>
          <a:p>
            <a:pPr algn="l"/>
            <a:r>
              <a:rPr sz="800" b="1" i="0">
                <a:solidFill>
                  <a:srgbClr val="C8A951"/>
                </a:solidFill>
                <a:latin typeface="Calibri"/>
              </a:rPr>
              <a:t>Weeks 2–4</a:t>
            </a:r>
          </a:p>
        </p:txBody>
      </p:sp>
      <p:sp>
        <p:nvSpPr>
          <p:cNvPr id="22" name="TextBox 21"/>
          <p:cNvSpPr txBox="1"/>
          <p:nvPr/>
        </p:nvSpPr>
        <p:spPr>
          <a:xfrm>
            <a:off x="6409944" y="2788920"/>
            <a:ext cx="2377440" cy="304800"/>
          </a:xfrm>
          <a:prstGeom prst="rect">
            <a:avLst/>
          </a:prstGeom>
          <a:noFill/>
        </p:spPr>
        <p:txBody>
          <a:bodyPr wrap="square">
            <a:spAutoFit/>
          </a:bodyPr>
          <a:lstStyle/>
          <a:p>
            <a:pPr algn="l"/>
            <a:r>
              <a:rPr sz="1300" b="1" i="0">
                <a:solidFill>
                  <a:srgbClr val="0D0D0D"/>
                </a:solidFill>
                <a:latin typeface="Calibri"/>
              </a:rPr>
              <a:t>Vet &amp; Assess</a:t>
            </a:r>
          </a:p>
        </p:txBody>
      </p:sp>
      <p:sp>
        <p:nvSpPr>
          <p:cNvPr id="23" name="TextBox 22"/>
          <p:cNvSpPr txBox="1"/>
          <p:nvPr/>
        </p:nvSpPr>
        <p:spPr>
          <a:xfrm>
            <a:off x="6409944" y="3200400"/>
            <a:ext cx="2423160" cy="2926080"/>
          </a:xfrm>
          <a:prstGeom prst="rect">
            <a:avLst/>
          </a:prstGeom>
          <a:noFill/>
        </p:spPr>
        <p:txBody>
          <a:bodyPr wrap="square">
            <a:spAutoFit/>
          </a:bodyPr>
          <a:lstStyle/>
          <a:p>
            <a:pPr algn="l">
              <a:lnSpc>
                <a:spcPct val="1400"/>
              </a:lnSpc>
            </a:pPr>
            <a:r>
              <a:rPr sz="950" b="0" i="0">
                <a:solidFill>
                  <a:srgbClr val="404040"/>
                </a:solidFill>
                <a:latin typeface="Calibri"/>
              </a:rPr>
              <a:t>Structured technical interview, behavioural assessment, and reference intelligence (references approached by our team, not just provided by the candidate). We present a shortlist of 3–5 high-quality candidates, not 20 CVs to sort through.</a:t>
            </a:r>
          </a:p>
        </p:txBody>
      </p:sp>
      <p:sp>
        <p:nvSpPr>
          <p:cNvPr id="24" name="Rectangle 23"/>
          <p:cNvSpPr/>
          <p:nvPr/>
        </p:nvSpPr>
        <p:spPr>
          <a:xfrm>
            <a:off x="9180576" y="2011680"/>
            <a:ext cx="2697480" cy="42976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80576" y="2011680"/>
            <a:ext cx="269748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17736" y="2057400"/>
            <a:ext cx="731520" cy="457200"/>
          </a:xfrm>
          <a:prstGeom prst="rect">
            <a:avLst/>
          </a:prstGeom>
          <a:noFill/>
        </p:spPr>
        <p:txBody>
          <a:bodyPr wrap="square">
            <a:spAutoFit/>
          </a:bodyPr>
          <a:lstStyle/>
          <a:p>
            <a:pPr algn="l"/>
            <a:r>
              <a:rPr sz="2800" b="1" i="0">
                <a:solidFill>
                  <a:srgbClr val="E5E5E5"/>
                </a:solidFill>
                <a:latin typeface="Calibri"/>
              </a:rPr>
              <a:t>04</a:t>
            </a:r>
          </a:p>
        </p:txBody>
      </p:sp>
      <p:sp>
        <p:nvSpPr>
          <p:cNvPr id="27" name="TextBox 26"/>
          <p:cNvSpPr txBox="1"/>
          <p:nvPr/>
        </p:nvSpPr>
        <p:spPr>
          <a:xfrm>
            <a:off x="9317736" y="2514600"/>
            <a:ext cx="2377440" cy="254000"/>
          </a:xfrm>
          <a:prstGeom prst="rect">
            <a:avLst/>
          </a:prstGeom>
          <a:noFill/>
        </p:spPr>
        <p:txBody>
          <a:bodyPr wrap="square">
            <a:spAutoFit/>
          </a:bodyPr>
          <a:lstStyle/>
          <a:p>
            <a:pPr algn="l"/>
            <a:r>
              <a:rPr sz="800" b="1" i="0">
                <a:solidFill>
                  <a:srgbClr val="C8A951"/>
                </a:solidFill>
                <a:latin typeface="Calibri"/>
              </a:rPr>
              <a:t>Weeks 4–6</a:t>
            </a:r>
          </a:p>
        </p:txBody>
      </p:sp>
      <p:sp>
        <p:nvSpPr>
          <p:cNvPr id="28" name="TextBox 27"/>
          <p:cNvSpPr txBox="1"/>
          <p:nvPr/>
        </p:nvSpPr>
        <p:spPr>
          <a:xfrm>
            <a:off x="9317736" y="2788920"/>
            <a:ext cx="2377440" cy="304800"/>
          </a:xfrm>
          <a:prstGeom prst="rect">
            <a:avLst/>
          </a:prstGeom>
          <a:noFill/>
        </p:spPr>
        <p:txBody>
          <a:bodyPr wrap="square">
            <a:spAutoFit/>
          </a:bodyPr>
          <a:lstStyle/>
          <a:p>
            <a:pPr algn="l"/>
            <a:r>
              <a:rPr sz="1300" b="1" i="0">
                <a:solidFill>
                  <a:srgbClr val="0D0D0D"/>
                </a:solidFill>
                <a:latin typeface="Calibri"/>
              </a:rPr>
              <a:t>Place &amp; Partner</a:t>
            </a:r>
          </a:p>
        </p:txBody>
      </p:sp>
      <p:sp>
        <p:nvSpPr>
          <p:cNvPr id="29" name="TextBox 28"/>
          <p:cNvSpPr txBox="1"/>
          <p:nvPr/>
        </p:nvSpPr>
        <p:spPr>
          <a:xfrm>
            <a:off x="9317736" y="3200400"/>
            <a:ext cx="2423160" cy="2926080"/>
          </a:xfrm>
          <a:prstGeom prst="rect">
            <a:avLst/>
          </a:prstGeom>
          <a:noFill/>
        </p:spPr>
        <p:txBody>
          <a:bodyPr wrap="square">
            <a:spAutoFit/>
          </a:bodyPr>
          <a:lstStyle/>
          <a:p>
            <a:pPr algn="l">
              <a:lnSpc>
                <a:spcPct val="1400"/>
              </a:lnSpc>
            </a:pPr>
            <a:r>
              <a:rPr sz="950" b="0" i="0">
                <a:solidFill>
                  <a:srgbClr val="404040"/>
                </a:solidFill>
                <a:latin typeface="Calibri"/>
              </a:rPr>
              <a:t>We manage the offer process, counter-offer coaching, and onboarding support. We check in at 30, 60, and 90 days post-placement and stay available to both you and the placed leader for the duration of their tenure.</a:t>
            </a:r>
          </a:p>
        </p:txBody>
      </p:sp>
      <p:sp>
        <p:nvSpPr>
          <p:cNvPr id="30" name="TextBox 29"/>
          <p:cNvSpPr txBox="1"/>
          <p:nvPr/>
        </p:nvSpPr>
        <p:spPr>
          <a:xfrm>
            <a:off x="731520" y="6446520"/>
            <a:ext cx="10515600" cy="304800"/>
          </a:xfrm>
          <a:prstGeom prst="rect">
            <a:avLst/>
          </a:prstGeom>
          <a:noFill/>
        </p:spPr>
        <p:txBody>
          <a:bodyPr wrap="square">
            <a:spAutoFit/>
          </a:bodyPr>
          <a:lstStyle/>
          <a:p>
            <a:pPr algn="l"/>
            <a:r>
              <a:rPr sz="1000" b="0" i="1">
                <a:solidFill>
                  <a:srgbClr val="737373"/>
                </a:solidFill>
                <a:latin typeface="Calibri"/>
              </a:rPr>
              <a:t>All engagements include a replacement guarantee. If a placed candidate leaves within 6 months, we fill the role again at no additional fee.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TECHNICAL VETTING</a:t>
            </a:r>
          </a:p>
        </p:txBody>
      </p:sp>
      <p:sp>
        <p:nvSpPr>
          <p:cNvPr id="4" name="TextBox 3"/>
          <p:cNvSpPr txBox="1"/>
          <p:nvPr/>
        </p:nvSpPr>
        <p:spPr>
          <a:xfrm>
            <a:off x="731520" y="640080"/>
            <a:ext cx="10515600" cy="914400"/>
          </a:xfrm>
          <a:prstGeom prst="rect">
            <a:avLst/>
          </a:prstGeom>
          <a:noFill/>
        </p:spPr>
        <p:txBody>
          <a:bodyPr wrap="square">
            <a:spAutoFit/>
          </a:bodyPr>
          <a:lstStyle/>
          <a:p>
            <a:pPr algn="l"/>
            <a:r>
              <a:rPr sz="3200" b="1" i="0">
                <a:solidFill>
                  <a:srgbClr val="FFFFFF"/>
                </a:solidFill>
                <a:latin typeface="Calibri"/>
              </a:rPr>
              <a:t>We don't screen resumes. We assess engineers.</a:t>
            </a:r>
          </a:p>
        </p:txBody>
      </p:sp>
      <p:sp>
        <p:nvSpPr>
          <p:cNvPr id="5" name="Rectangle 4"/>
          <p:cNvSpPr/>
          <p:nvPr/>
        </p:nvSpPr>
        <p:spPr>
          <a:xfrm>
            <a:off x="731520" y="150876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91640"/>
            <a:ext cx="10515600" cy="822960"/>
          </a:xfrm>
          <a:prstGeom prst="rect">
            <a:avLst/>
          </a:prstGeom>
          <a:noFill/>
        </p:spPr>
        <p:txBody>
          <a:bodyPr wrap="square">
            <a:spAutoFit/>
          </a:bodyPr>
          <a:lstStyle/>
          <a:p>
            <a:pPr algn="l">
              <a:lnSpc>
                <a:spcPct val="1450"/>
              </a:lnSpc>
            </a:pPr>
            <a:r>
              <a:rPr sz="1200" b="0" i="0">
                <a:solidFill>
                  <a:srgbClr val="CCCCCC"/>
                </a:solidFill>
                <a:latin typeface="Calibri"/>
              </a:rPr>
              <a:t>Every candidate presented to you has passed a multi-stage assessment designed by senior practitioners in the relevant technology domain. We do not forward profiles. We present assessed candidates.</a:t>
            </a:r>
          </a:p>
        </p:txBody>
      </p:sp>
      <p:sp>
        <p:nvSpPr>
          <p:cNvPr id="7" name="Rectangle 6"/>
          <p:cNvSpPr/>
          <p:nvPr/>
        </p:nvSpPr>
        <p:spPr>
          <a:xfrm>
            <a:off x="731520" y="2606040"/>
            <a:ext cx="3611880" cy="1691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697480"/>
            <a:ext cx="3337560" cy="457200"/>
          </a:xfrm>
          <a:prstGeom prst="rect">
            <a:avLst/>
          </a:prstGeom>
          <a:noFill/>
        </p:spPr>
        <p:txBody>
          <a:bodyPr wrap="square">
            <a:spAutoFit/>
          </a:bodyPr>
          <a:lstStyle/>
          <a:p>
            <a:pPr algn="l">
              <a:lnSpc>
                <a:spcPct val="1300"/>
              </a:lnSpc>
            </a:pPr>
            <a:r>
              <a:rPr sz="1000" b="1" i="0">
                <a:solidFill>
                  <a:srgbClr val="C8A951"/>
                </a:solidFill>
                <a:latin typeface="Calibri"/>
              </a:rPr>
              <a:t>Stage 1
Resume Intelligence</a:t>
            </a:r>
          </a:p>
        </p:txBody>
      </p:sp>
      <p:sp>
        <p:nvSpPr>
          <p:cNvPr id="9" name="TextBox 8"/>
          <p:cNvSpPr txBox="1"/>
          <p:nvPr/>
        </p:nvSpPr>
        <p:spPr>
          <a:xfrm>
            <a:off x="868680" y="3136392"/>
            <a:ext cx="3337560" cy="1051560"/>
          </a:xfrm>
          <a:prstGeom prst="rect">
            <a:avLst/>
          </a:prstGeom>
          <a:noFill/>
        </p:spPr>
        <p:txBody>
          <a:bodyPr wrap="square">
            <a:spAutoFit/>
          </a:bodyPr>
          <a:lstStyle/>
          <a:p>
            <a:pPr algn="l">
              <a:lnSpc>
                <a:spcPct val="1350"/>
              </a:lnSpc>
            </a:pPr>
            <a:r>
              <a:rPr sz="900" b="0" i="0">
                <a:solidFill>
                  <a:srgbClr val="BBBBBB"/>
                </a:solidFill>
                <a:latin typeface="Calibri"/>
              </a:rPr>
              <a:t>Not just reading the CV — mapping the candidate's actual technical depth, progression quality, project complexity, and alignment with the role's real requirements.</a:t>
            </a:r>
          </a:p>
        </p:txBody>
      </p:sp>
      <p:sp>
        <p:nvSpPr>
          <p:cNvPr id="10" name="Rectangle 9"/>
          <p:cNvSpPr/>
          <p:nvPr/>
        </p:nvSpPr>
        <p:spPr>
          <a:xfrm>
            <a:off x="4526280" y="2606040"/>
            <a:ext cx="3611880" cy="1691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697480"/>
            <a:ext cx="3337560" cy="457200"/>
          </a:xfrm>
          <a:prstGeom prst="rect">
            <a:avLst/>
          </a:prstGeom>
          <a:noFill/>
        </p:spPr>
        <p:txBody>
          <a:bodyPr wrap="square">
            <a:spAutoFit/>
          </a:bodyPr>
          <a:lstStyle/>
          <a:p>
            <a:pPr algn="l">
              <a:lnSpc>
                <a:spcPct val="1300"/>
              </a:lnSpc>
            </a:pPr>
            <a:r>
              <a:rPr sz="1000" b="1" i="0">
                <a:solidFill>
                  <a:srgbClr val="C8A951"/>
                </a:solidFill>
                <a:latin typeface="Calibri"/>
              </a:rPr>
              <a:t>Stage 2
Technical Screening</a:t>
            </a:r>
          </a:p>
        </p:txBody>
      </p:sp>
      <p:sp>
        <p:nvSpPr>
          <p:cNvPr id="12" name="TextBox 11"/>
          <p:cNvSpPr txBox="1"/>
          <p:nvPr/>
        </p:nvSpPr>
        <p:spPr>
          <a:xfrm>
            <a:off x="4663440" y="3136392"/>
            <a:ext cx="3337560" cy="1051560"/>
          </a:xfrm>
          <a:prstGeom prst="rect">
            <a:avLst/>
          </a:prstGeom>
          <a:noFill/>
        </p:spPr>
        <p:txBody>
          <a:bodyPr wrap="square">
            <a:spAutoFit/>
          </a:bodyPr>
          <a:lstStyle/>
          <a:p>
            <a:pPr algn="l">
              <a:lnSpc>
                <a:spcPct val="1350"/>
              </a:lnSpc>
            </a:pPr>
            <a:r>
              <a:rPr sz="900" b="0" i="0">
                <a:solidFill>
                  <a:srgbClr val="BBBBBB"/>
                </a:solidFill>
                <a:latin typeface="Calibri"/>
              </a:rPr>
              <a:t>A structured 45-minute technical conversation conducted by a senior practitioner in the relevant domain. We assess depth of knowledge, architectural thinking, and problem-solving approach.</a:t>
            </a:r>
          </a:p>
        </p:txBody>
      </p:sp>
      <p:sp>
        <p:nvSpPr>
          <p:cNvPr id="13" name="Rectangle 12"/>
          <p:cNvSpPr/>
          <p:nvPr/>
        </p:nvSpPr>
        <p:spPr>
          <a:xfrm>
            <a:off x="8321040" y="2606040"/>
            <a:ext cx="3611880" cy="1691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2697480"/>
            <a:ext cx="3337560" cy="457200"/>
          </a:xfrm>
          <a:prstGeom prst="rect">
            <a:avLst/>
          </a:prstGeom>
          <a:noFill/>
        </p:spPr>
        <p:txBody>
          <a:bodyPr wrap="square">
            <a:spAutoFit/>
          </a:bodyPr>
          <a:lstStyle/>
          <a:p>
            <a:pPr algn="l">
              <a:lnSpc>
                <a:spcPct val="1300"/>
              </a:lnSpc>
            </a:pPr>
            <a:r>
              <a:rPr sz="1000" b="1" i="0">
                <a:solidFill>
                  <a:srgbClr val="C8A951"/>
                </a:solidFill>
                <a:latin typeface="Calibri"/>
              </a:rPr>
              <a:t>Stage 3
Behavioural Assessment</a:t>
            </a:r>
          </a:p>
        </p:txBody>
      </p:sp>
      <p:sp>
        <p:nvSpPr>
          <p:cNvPr id="15" name="TextBox 14"/>
          <p:cNvSpPr txBox="1"/>
          <p:nvPr/>
        </p:nvSpPr>
        <p:spPr>
          <a:xfrm>
            <a:off x="8458200" y="3136392"/>
            <a:ext cx="3337560" cy="1051560"/>
          </a:xfrm>
          <a:prstGeom prst="rect">
            <a:avLst/>
          </a:prstGeom>
          <a:noFill/>
        </p:spPr>
        <p:txBody>
          <a:bodyPr wrap="square">
            <a:spAutoFit/>
          </a:bodyPr>
          <a:lstStyle/>
          <a:p>
            <a:pPr algn="l">
              <a:lnSpc>
                <a:spcPct val="1350"/>
              </a:lnSpc>
            </a:pPr>
            <a:r>
              <a:rPr sz="900" b="0" i="0">
                <a:solidFill>
                  <a:srgbClr val="BBBBBB"/>
                </a:solidFill>
                <a:latin typeface="Calibri"/>
              </a:rPr>
              <a:t>Leadership style, collaboration patterns, approach to ambiguity, stakeholder management capability, and cultural fit with your organisation's values and way of working.</a:t>
            </a:r>
          </a:p>
        </p:txBody>
      </p:sp>
      <p:sp>
        <p:nvSpPr>
          <p:cNvPr id="16" name="Rectangle 15"/>
          <p:cNvSpPr/>
          <p:nvPr/>
        </p:nvSpPr>
        <p:spPr>
          <a:xfrm>
            <a:off x="731520" y="4480559"/>
            <a:ext cx="3611880" cy="1691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571999"/>
            <a:ext cx="3337560" cy="457200"/>
          </a:xfrm>
          <a:prstGeom prst="rect">
            <a:avLst/>
          </a:prstGeom>
          <a:noFill/>
        </p:spPr>
        <p:txBody>
          <a:bodyPr wrap="square">
            <a:spAutoFit/>
          </a:bodyPr>
          <a:lstStyle/>
          <a:p>
            <a:pPr algn="l">
              <a:lnSpc>
                <a:spcPct val="1300"/>
              </a:lnSpc>
            </a:pPr>
            <a:r>
              <a:rPr sz="1000" b="1" i="0">
                <a:solidFill>
                  <a:srgbClr val="C8A951"/>
                </a:solidFill>
                <a:latin typeface="Calibri"/>
              </a:rPr>
              <a:t>Stage 4
Reference Intelligence</a:t>
            </a:r>
          </a:p>
        </p:txBody>
      </p:sp>
      <p:sp>
        <p:nvSpPr>
          <p:cNvPr id="18" name="TextBox 17"/>
          <p:cNvSpPr txBox="1"/>
          <p:nvPr/>
        </p:nvSpPr>
        <p:spPr>
          <a:xfrm>
            <a:off x="868680" y="5010911"/>
            <a:ext cx="3337560" cy="1051560"/>
          </a:xfrm>
          <a:prstGeom prst="rect">
            <a:avLst/>
          </a:prstGeom>
          <a:noFill/>
        </p:spPr>
        <p:txBody>
          <a:bodyPr wrap="square">
            <a:spAutoFit/>
          </a:bodyPr>
          <a:lstStyle/>
          <a:p>
            <a:pPr algn="l">
              <a:lnSpc>
                <a:spcPct val="1350"/>
              </a:lnSpc>
            </a:pPr>
            <a:r>
              <a:rPr sz="900" b="0" i="0">
                <a:solidFill>
                  <a:srgbClr val="BBBBBB"/>
                </a:solidFill>
                <a:latin typeface="Calibri"/>
              </a:rPr>
              <a:t>We approach two to three references identified independently — not provided by the candidate — and conduct structured conversations. We look for patterns, not just endorsements.</a:t>
            </a:r>
          </a:p>
        </p:txBody>
      </p:sp>
      <p:sp>
        <p:nvSpPr>
          <p:cNvPr id="19" name="Rectangle 18"/>
          <p:cNvSpPr/>
          <p:nvPr/>
        </p:nvSpPr>
        <p:spPr>
          <a:xfrm>
            <a:off x="4526280" y="4480559"/>
            <a:ext cx="3611880" cy="1691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4571999"/>
            <a:ext cx="3337560" cy="457200"/>
          </a:xfrm>
          <a:prstGeom prst="rect">
            <a:avLst/>
          </a:prstGeom>
          <a:noFill/>
        </p:spPr>
        <p:txBody>
          <a:bodyPr wrap="square">
            <a:spAutoFit/>
          </a:bodyPr>
          <a:lstStyle/>
          <a:p>
            <a:pPr algn="l">
              <a:lnSpc>
                <a:spcPct val="1300"/>
              </a:lnSpc>
            </a:pPr>
            <a:r>
              <a:rPr sz="1000" b="1" i="0">
                <a:solidFill>
                  <a:srgbClr val="C8A951"/>
                </a:solidFill>
                <a:latin typeface="Calibri"/>
              </a:rPr>
              <a:t>Stage 5
Background Verification</a:t>
            </a:r>
          </a:p>
        </p:txBody>
      </p:sp>
      <p:sp>
        <p:nvSpPr>
          <p:cNvPr id="21" name="TextBox 20"/>
          <p:cNvSpPr txBox="1"/>
          <p:nvPr/>
        </p:nvSpPr>
        <p:spPr>
          <a:xfrm>
            <a:off x="4663440" y="5010911"/>
            <a:ext cx="3337560" cy="1051560"/>
          </a:xfrm>
          <a:prstGeom prst="rect">
            <a:avLst/>
          </a:prstGeom>
          <a:noFill/>
        </p:spPr>
        <p:txBody>
          <a:bodyPr wrap="square">
            <a:spAutoFit/>
          </a:bodyPr>
          <a:lstStyle/>
          <a:p>
            <a:pPr algn="l">
              <a:lnSpc>
                <a:spcPct val="1350"/>
              </a:lnSpc>
            </a:pPr>
            <a:r>
              <a:rPr sz="900" b="0" i="0">
                <a:solidFill>
                  <a:srgbClr val="BBBBBB"/>
                </a:solidFill>
                <a:latin typeface="Calibri"/>
              </a:rPr>
              <a:t>Employment history, qualification verification, and where relevant, professional standing and industry reputation checks through our network relationships.</a:t>
            </a:r>
          </a:p>
        </p:txBody>
      </p:sp>
      <p:sp>
        <p:nvSpPr>
          <p:cNvPr id="22" name="Rectangle 21"/>
          <p:cNvSpPr/>
          <p:nvPr/>
        </p:nvSpPr>
        <p:spPr>
          <a:xfrm>
            <a:off x="8321040" y="4480559"/>
            <a:ext cx="3611880" cy="1691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200" y="4571999"/>
            <a:ext cx="3337560" cy="457200"/>
          </a:xfrm>
          <a:prstGeom prst="rect">
            <a:avLst/>
          </a:prstGeom>
          <a:noFill/>
        </p:spPr>
        <p:txBody>
          <a:bodyPr wrap="square">
            <a:spAutoFit/>
          </a:bodyPr>
          <a:lstStyle/>
          <a:p>
            <a:pPr algn="l">
              <a:lnSpc>
                <a:spcPct val="1300"/>
              </a:lnSpc>
            </a:pPr>
            <a:r>
              <a:rPr sz="1000" b="1" i="0">
                <a:solidFill>
                  <a:srgbClr val="C8A951"/>
                </a:solidFill>
                <a:latin typeface="Calibri"/>
              </a:rPr>
              <a:t>Stage 6
Candidate Briefing</a:t>
            </a:r>
          </a:p>
        </p:txBody>
      </p:sp>
      <p:sp>
        <p:nvSpPr>
          <p:cNvPr id="24" name="TextBox 23"/>
          <p:cNvSpPr txBox="1"/>
          <p:nvPr/>
        </p:nvSpPr>
        <p:spPr>
          <a:xfrm>
            <a:off x="8458200" y="5010911"/>
            <a:ext cx="3337560" cy="1051560"/>
          </a:xfrm>
          <a:prstGeom prst="rect">
            <a:avLst/>
          </a:prstGeom>
          <a:noFill/>
        </p:spPr>
        <p:txBody>
          <a:bodyPr wrap="square">
            <a:spAutoFit/>
          </a:bodyPr>
          <a:lstStyle/>
          <a:p>
            <a:pPr algn="l">
              <a:lnSpc>
                <a:spcPct val="1350"/>
              </a:lnSpc>
            </a:pPr>
            <a:r>
              <a:rPr sz="900" b="0" i="0">
                <a:solidFill>
                  <a:srgbClr val="BBBBBB"/>
                </a:solidFill>
                <a:latin typeface="Calibri"/>
              </a:rPr>
              <a:t>Before presenting to you, we fully brief the candidate on your business, culture, team, and the role expectations. Only motivated, prepared candidates appear in your shortlist.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PARTNERSHIP MODEL</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150"/>
              </a:lnSpc>
            </a:pPr>
            <a:r>
              <a:rPr sz="3200" b="1" i="0">
                <a:solidFill>
                  <a:srgbClr val="0D0D0D"/>
                </a:solidFill>
                <a:latin typeface="Calibri"/>
              </a:rPr>
              <a:t>A retained, relationship-based model built
for long-term partnership — not transactional fill.</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5486400" cy="1463040"/>
          </a:xfrm>
          <a:prstGeom prst="rect">
            <a:avLst/>
          </a:prstGeom>
          <a:noFill/>
        </p:spPr>
        <p:txBody>
          <a:bodyPr wrap="square">
            <a:spAutoFit/>
          </a:bodyPr>
          <a:lstStyle/>
          <a:p>
            <a:pPr algn="l">
              <a:lnSpc>
                <a:spcPct val="1500"/>
              </a:lnSpc>
            </a:pPr>
            <a:r>
              <a:rPr sz="1150" b="0" i="0">
                <a:solidFill>
                  <a:srgbClr val="404040"/>
                </a:solidFill>
                <a:latin typeface="Calibri"/>
              </a:rPr>
              <a:t>We work on a retained search model. This means we commit dedicated senior resources to your mandates — not a shared quota across 40 competing clients. In return, you get priority sourcing, dedicated account ownership, and a partnership that deepens over time.</a:t>
            </a:r>
          </a:p>
        </p:txBody>
      </p:sp>
      <p:sp>
        <p:nvSpPr>
          <p:cNvPr id="7" name="Rectangle 6"/>
          <p:cNvSpPr/>
          <p:nvPr/>
        </p:nvSpPr>
        <p:spPr>
          <a:xfrm>
            <a:off x="731520" y="3520440"/>
            <a:ext cx="5486400" cy="749808"/>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520440"/>
            <a:ext cx="50800" cy="749808"/>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75304"/>
            <a:ext cx="5029200" cy="254000"/>
          </a:xfrm>
          <a:prstGeom prst="rect">
            <a:avLst/>
          </a:prstGeom>
          <a:noFill/>
        </p:spPr>
        <p:txBody>
          <a:bodyPr wrap="square">
            <a:spAutoFit/>
          </a:bodyPr>
          <a:lstStyle/>
          <a:p>
            <a:pPr algn="l"/>
            <a:r>
              <a:rPr sz="1100" b="1" i="0">
                <a:solidFill>
                  <a:srgbClr val="0D0D0D"/>
                </a:solidFill>
                <a:latin typeface="Calibri"/>
              </a:rPr>
              <a:t>Dedicated Senior Partner</a:t>
            </a:r>
          </a:p>
        </p:txBody>
      </p:sp>
      <p:sp>
        <p:nvSpPr>
          <p:cNvPr id="10" name="TextBox 9"/>
          <p:cNvSpPr txBox="1"/>
          <p:nvPr/>
        </p:nvSpPr>
        <p:spPr>
          <a:xfrm>
            <a:off x="914400" y="3886200"/>
            <a:ext cx="5029200" cy="254000"/>
          </a:xfrm>
          <a:prstGeom prst="rect">
            <a:avLst/>
          </a:prstGeom>
          <a:noFill/>
        </p:spPr>
        <p:txBody>
          <a:bodyPr wrap="square">
            <a:spAutoFit/>
          </a:bodyPr>
          <a:lstStyle/>
          <a:p>
            <a:pPr algn="l"/>
            <a:r>
              <a:rPr sz="900" b="0" i="0">
                <a:solidFill>
                  <a:srgbClr val="737373"/>
                </a:solidFill>
                <a:latin typeface="Calibri"/>
              </a:rPr>
              <a:t>A named senior partner owns your account. You always have a direct line to the person making decisions.</a:t>
            </a:r>
          </a:p>
        </p:txBody>
      </p:sp>
      <p:sp>
        <p:nvSpPr>
          <p:cNvPr id="11" name="Rectangle 10"/>
          <p:cNvSpPr/>
          <p:nvPr/>
        </p:nvSpPr>
        <p:spPr>
          <a:xfrm>
            <a:off x="731520" y="4361688"/>
            <a:ext cx="5486400" cy="749808"/>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361688"/>
            <a:ext cx="50800" cy="749808"/>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16552"/>
            <a:ext cx="5029200" cy="254000"/>
          </a:xfrm>
          <a:prstGeom prst="rect">
            <a:avLst/>
          </a:prstGeom>
          <a:noFill/>
        </p:spPr>
        <p:txBody>
          <a:bodyPr wrap="square">
            <a:spAutoFit/>
          </a:bodyPr>
          <a:lstStyle/>
          <a:p>
            <a:pPr algn="l"/>
            <a:r>
              <a:rPr sz="1100" b="1" i="0">
                <a:solidFill>
                  <a:srgbClr val="0D0D0D"/>
                </a:solidFill>
                <a:latin typeface="Calibri"/>
              </a:rPr>
              <a:t>Agreed SLA</a:t>
            </a:r>
          </a:p>
        </p:txBody>
      </p:sp>
      <p:sp>
        <p:nvSpPr>
          <p:cNvPr id="14" name="TextBox 13"/>
          <p:cNvSpPr txBox="1"/>
          <p:nvPr/>
        </p:nvSpPr>
        <p:spPr>
          <a:xfrm>
            <a:off x="914400" y="4727448"/>
            <a:ext cx="5029200" cy="254000"/>
          </a:xfrm>
          <a:prstGeom prst="rect">
            <a:avLst/>
          </a:prstGeom>
          <a:noFill/>
        </p:spPr>
        <p:txBody>
          <a:bodyPr wrap="square">
            <a:spAutoFit/>
          </a:bodyPr>
          <a:lstStyle/>
          <a:p>
            <a:pPr algn="l"/>
            <a:r>
              <a:rPr sz="900" b="0" i="0">
                <a:solidFill>
                  <a:srgbClr val="737373"/>
                </a:solidFill>
                <a:latin typeface="Calibri"/>
              </a:rPr>
              <a:t>Shortlist delivered within 15–20 business days of brief sign-off. We commit to timelines and report against them.</a:t>
            </a:r>
          </a:p>
        </p:txBody>
      </p:sp>
      <p:sp>
        <p:nvSpPr>
          <p:cNvPr id="15" name="Rectangle 14"/>
          <p:cNvSpPr/>
          <p:nvPr/>
        </p:nvSpPr>
        <p:spPr>
          <a:xfrm>
            <a:off x="731520" y="5202936"/>
            <a:ext cx="5486400" cy="749808"/>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202936"/>
            <a:ext cx="50800" cy="749808"/>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257800"/>
            <a:ext cx="5029200" cy="254000"/>
          </a:xfrm>
          <a:prstGeom prst="rect">
            <a:avLst/>
          </a:prstGeom>
          <a:noFill/>
        </p:spPr>
        <p:txBody>
          <a:bodyPr wrap="square">
            <a:spAutoFit/>
          </a:bodyPr>
          <a:lstStyle/>
          <a:p>
            <a:pPr algn="l"/>
            <a:r>
              <a:rPr sz="1100" b="1" i="0">
                <a:solidFill>
                  <a:srgbClr val="0D0D0D"/>
                </a:solidFill>
                <a:latin typeface="Calibri"/>
              </a:rPr>
              <a:t>Monthly Business Reviews</a:t>
            </a:r>
          </a:p>
        </p:txBody>
      </p:sp>
      <p:sp>
        <p:nvSpPr>
          <p:cNvPr id="18" name="TextBox 17"/>
          <p:cNvSpPr txBox="1"/>
          <p:nvPr/>
        </p:nvSpPr>
        <p:spPr>
          <a:xfrm>
            <a:off x="914400" y="5568696"/>
            <a:ext cx="5029200" cy="254000"/>
          </a:xfrm>
          <a:prstGeom prst="rect">
            <a:avLst/>
          </a:prstGeom>
          <a:noFill/>
        </p:spPr>
        <p:txBody>
          <a:bodyPr wrap="square">
            <a:spAutoFit/>
          </a:bodyPr>
          <a:lstStyle/>
          <a:p>
            <a:pPr algn="l"/>
            <a:r>
              <a:rPr sz="900" b="0" i="0">
                <a:solidFill>
                  <a:srgbClr val="737373"/>
                </a:solidFill>
                <a:latin typeface="Calibri"/>
              </a:rPr>
              <a:t>Structured MBRs covering pipeline status, market intelligence, and talent landscape updates for your hiring domains.</a:t>
            </a:r>
          </a:p>
        </p:txBody>
      </p:sp>
      <p:sp>
        <p:nvSpPr>
          <p:cNvPr id="19" name="Rectangle 18"/>
          <p:cNvSpPr/>
          <p:nvPr/>
        </p:nvSpPr>
        <p:spPr>
          <a:xfrm>
            <a:off x="731520" y="6044184"/>
            <a:ext cx="5486400" cy="749808"/>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6044184"/>
            <a:ext cx="50800" cy="749808"/>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099048"/>
            <a:ext cx="5029200" cy="254000"/>
          </a:xfrm>
          <a:prstGeom prst="rect">
            <a:avLst/>
          </a:prstGeom>
          <a:noFill/>
        </p:spPr>
        <p:txBody>
          <a:bodyPr wrap="square">
            <a:spAutoFit/>
          </a:bodyPr>
          <a:lstStyle/>
          <a:p>
            <a:pPr algn="l"/>
            <a:r>
              <a:rPr sz="1100" b="1" i="0">
                <a:solidFill>
                  <a:srgbClr val="0D0D0D"/>
                </a:solidFill>
                <a:latin typeface="Calibri"/>
              </a:rPr>
              <a:t>Replacement Guarantee</a:t>
            </a:r>
          </a:p>
        </p:txBody>
      </p:sp>
      <p:sp>
        <p:nvSpPr>
          <p:cNvPr id="22" name="TextBox 21"/>
          <p:cNvSpPr txBox="1"/>
          <p:nvPr/>
        </p:nvSpPr>
        <p:spPr>
          <a:xfrm>
            <a:off x="914400" y="6409944"/>
            <a:ext cx="5029200" cy="254000"/>
          </a:xfrm>
          <a:prstGeom prst="rect">
            <a:avLst/>
          </a:prstGeom>
          <a:noFill/>
        </p:spPr>
        <p:txBody>
          <a:bodyPr wrap="square">
            <a:spAutoFit/>
          </a:bodyPr>
          <a:lstStyle/>
          <a:p>
            <a:pPr algn="l"/>
            <a:r>
              <a:rPr sz="900" b="0" i="0">
                <a:solidFill>
                  <a:srgbClr val="737373"/>
                </a:solidFill>
                <a:latin typeface="Calibri"/>
              </a:rPr>
              <a:t>6-month replacement guarantee at no additional fee. We stand behind every placement we make.</a:t>
            </a:r>
          </a:p>
        </p:txBody>
      </p:sp>
      <p:sp>
        <p:nvSpPr>
          <p:cNvPr id="23" name="Rectangle 22"/>
          <p:cNvSpPr/>
          <p:nvPr/>
        </p:nvSpPr>
        <p:spPr>
          <a:xfrm>
            <a:off x="731520" y="6885432"/>
            <a:ext cx="5486400" cy="749808"/>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6885432"/>
            <a:ext cx="50800" cy="749808"/>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6940296"/>
            <a:ext cx="5029200" cy="254000"/>
          </a:xfrm>
          <a:prstGeom prst="rect">
            <a:avLst/>
          </a:prstGeom>
          <a:noFill/>
        </p:spPr>
        <p:txBody>
          <a:bodyPr wrap="square">
            <a:spAutoFit/>
          </a:bodyPr>
          <a:lstStyle/>
          <a:p>
            <a:pPr algn="l"/>
            <a:r>
              <a:rPr sz="1100" b="1" i="0">
                <a:solidFill>
                  <a:srgbClr val="0D0D0D"/>
                </a:solidFill>
                <a:latin typeface="Calibri"/>
              </a:rPr>
              <a:t>Market Intelligence</a:t>
            </a:r>
          </a:p>
        </p:txBody>
      </p:sp>
      <p:sp>
        <p:nvSpPr>
          <p:cNvPr id="26" name="TextBox 25"/>
          <p:cNvSpPr txBox="1"/>
          <p:nvPr/>
        </p:nvSpPr>
        <p:spPr>
          <a:xfrm>
            <a:off x="914400" y="7251192"/>
            <a:ext cx="5029200" cy="254000"/>
          </a:xfrm>
          <a:prstGeom prst="rect">
            <a:avLst/>
          </a:prstGeom>
          <a:noFill/>
        </p:spPr>
        <p:txBody>
          <a:bodyPr wrap="square">
            <a:spAutoFit/>
          </a:bodyPr>
          <a:lstStyle/>
          <a:p>
            <a:pPr algn="l"/>
            <a:r>
              <a:rPr sz="900" b="0" i="0">
                <a:solidFill>
                  <a:srgbClr val="737373"/>
                </a:solidFill>
                <a:latin typeface="Calibri"/>
              </a:rPr>
              <a:t>Quarterly compensation benchmarking, talent availability reports, and competitive hiring landscape briefings for your TA leadership.</a:t>
            </a:r>
          </a:p>
        </p:txBody>
      </p:sp>
      <p:sp>
        <p:nvSpPr>
          <p:cNvPr id="27" name="Rectangle 26"/>
          <p:cNvSpPr/>
          <p:nvPr/>
        </p:nvSpPr>
        <p:spPr>
          <a:xfrm>
            <a:off x="6675120" y="1828800"/>
            <a:ext cx="5303520" cy="484632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2011680"/>
            <a:ext cx="4846320" cy="254000"/>
          </a:xfrm>
          <a:prstGeom prst="rect">
            <a:avLst/>
          </a:prstGeom>
          <a:noFill/>
        </p:spPr>
        <p:txBody>
          <a:bodyPr wrap="square">
            <a:spAutoFit/>
          </a:bodyPr>
          <a:lstStyle/>
          <a:p>
            <a:pPr algn="l"/>
            <a:r>
              <a:rPr sz="1000" b="1" i="0">
                <a:solidFill>
                  <a:srgbClr val="C8A951"/>
                </a:solidFill>
                <a:latin typeface="Calibri"/>
              </a:rPr>
              <a:t>Engagement Structure</a:t>
            </a:r>
          </a:p>
        </p:txBody>
      </p:sp>
      <p:sp>
        <p:nvSpPr>
          <p:cNvPr id="29" name="TextBox 28"/>
          <p:cNvSpPr txBox="1"/>
          <p:nvPr/>
        </p:nvSpPr>
        <p:spPr>
          <a:xfrm>
            <a:off x="6903720" y="2468880"/>
            <a:ext cx="4572000" cy="254000"/>
          </a:xfrm>
          <a:prstGeom prst="rect">
            <a:avLst/>
          </a:prstGeom>
          <a:noFill/>
        </p:spPr>
        <p:txBody>
          <a:bodyPr wrap="square">
            <a:spAutoFit/>
          </a:bodyPr>
          <a:lstStyle/>
          <a:p>
            <a:pPr algn="l"/>
            <a:r>
              <a:rPr sz="1050" b="1" i="0">
                <a:solidFill>
                  <a:srgbClr val="FFFFFF"/>
                </a:solidFill>
                <a:latin typeface="Calibri"/>
              </a:rPr>
              <a:t>Master Service Agreement</a:t>
            </a:r>
          </a:p>
        </p:txBody>
      </p:sp>
      <p:sp>
        <p:nvSpPr>
          <p:cNvPr id="30" name="TextBox 29"/>
          <p:cNvSpPr txBox="1"/>
          <p:nvPr/>
        </p:nvSpPr>
        <p:spPr>
          <a:xfrm>
            <a:off x="6903720" y="2743200"/>
            <a:ext cx="4572000" cy="254000"/>
          </a:xfrm>
          <a:prstGeom prst="rect">
            <a:avLst/>
          </a:prstGeom>
          <a:noFill/>
        </p:spPr>
        <p:txBody>
          <a:bodyPr wrap="square">
            <a:spAutoFit/>
          </a:bodyPr>
          <a:lstStyle/>
          <a:p>
            <a:pPr algn="l"/>
            <a:r>
              <a:rPr sz="900" b="0" i="0">
                <a:solidFill>
                  <a:srgbClr val="737373"/>
                </a:solidFill>
                <a:latin typeface="Calibri"/>
              </a:rPr>
              <a:t>Single MSA covering all roles</a:t>
            </a:r>
          </a:p>
        </p:txBody>
      </p:sp>
      <p:sp>
        <p:nvSpPr>
          <p:cNvPr id="31" name="TextBox 30"/>
          <p:cNvSpPr txBox="1"/>
          <p:nvPr/>
        </p:nvSpPr>
        <p:spPr>
          <a:xfrm>
            <a:off x="6903720" y="3154680"/>
            <a:ext cx="4572000" cy="254000"/>
          </a:xfrm>
          <a:prstGeom prst="rect">
            <a:avLst/>
          </a:prstGeom>
          <a:noFill/>
        </p:spPr>
        <p:txBody>
          <a:bodyPr wrap="square">
            <a:spAutoFit/>
          </a:bodyPr>
          <a:lstStyle/>
          <a:p>
            <a:pPr algn="l"/>
            <a:r>
              <a:rPr sz="1050" b="1" i="0">
                <a:solidFill>
                  <a:srgbClr val="FFFFFF"/>
                </a:solidFill>
                <a:latin typeface="Calibri"/>
              </a:rPr>
              <a:t>Retainer per Mandate</a:t>
            </a:r>
          </a:p>
        </p:txBody>
      </p:sp>
      <p:sp>
        <p:nvSpPr>
          <p:cNvPr id="32" name="TextBox 31"/>
          <p:cNvSpPr txBox="1"/>
          <p:nvPr/>
        </p:nvSpPr>
        <p:spPr>
          <a:xfrm>
            <a:off x="6903720" y="3429000"/>
            <a:ext cx="4572000" cy="254000"/>
          </a:xfrm>
          <a:prstGeom prst="rect">
            <a:avLst/>
          </a:prstGeom>
          <a:noFill/>
        </p:spPr>
        <p:txBody>
          <a:bodyPr wrap="square">
            <a:spAutoFit/>
          </a:bodyPr>
          <a:lstStyle/>
          <a:p>
            <a:pPr algn="l"/>
            <a:r>
              <a:rPr sz="900" b="0" i="0">
                <a:solidFill>
                  <a:srgbClr val="737373"/>
                </a:solidFill>
                <a:latin typeface="Calibri"/>
              </a:rPr>
              <a:t>Retained on each active search</a:t>
            </a:r>
          </a:p>
        </p:txBody>
      </p:sp>
      <p:sp>
        <p:nvSpPr>
          <p:cNvPr id="33" name="TextBox 32"/>
          <p:cNvSpPr txBox="1"/>
          <p:nvPr/>
        </p:nvSpPr>
        <p:spPr>
          <a:xfrm>
            <a:off x="6903720" y="3840480"/>
            <a:ext cx="4572000" cy="254000"/>
          </a:xfrm>
          <a:prstGeom prst="rect">
            <a:avLst/>
          </a:prstGeom>
          <a:noFill/>
        </p:spPr>
        <p:txBody>
          <a:bodyPr wrap="square">
            <a:spAutoFit/>
          </a:bodyPr>
          <a:lstStyle/>
          <a:p>
            <a:pPr algn="l"/>
            <a:r>
              <a:rPr sz="1050" b="1" i="0">
                <a:solidFill>
                  <a:srgbClr val="FFFFFF"/>
                </a:solidFill>
                <a:latin typeface="Calibri"/>
              </a:rPr>
              <a:t>Fee on Placement</a:t>
            </a:r>
          </a:p>
        </p:txBody>
      </p:sp>
      <p:sp>
        <p:nvSpPr>
          <p:cNvPr id="34" name="TextBox 33"/>
          <p:cNvSpPr txBox="1"/>
          <p:nvPr/>
        </p:nvSpPr>
        <p:spPr>
          <a:xfrm>
            <a:off x="6903720" y="4114800"/>
            <a:ext cx="4572000" cy="254000"/>
          </a:xfrm>
          <a:prstGeom prst="rect">
            <a:avLst/>
          </a:prstGeom>
          <a:noFill/>
        </p:spPr>
        <p:txBody>
          <a:bodyPr wrap="square">
            <a:spAutoFit/>
          </a:bodyPr>
          <a:lstStyle/>
          <a:p>
            <a:pPr algn="l"/>
            <a:r>
              <a:rPr sz="900" b="0" i="0">
                <a:solidFill>
                  <a:srgbClr val="737373"/>
                </a:solidFill>
                <a:latin typeface="Calibri"/>
              </a:rPr>
              <a:t>Success fee on confirmed offer</a:t>
            </a:r>
          </a:p>
        </p:txBody>
      </p:sp>
      <p:sp>
        <p:nvSpPr>
          <p:cNvPr id="35" name="TextBox 34"/>
          <p:cNvSpPr txBox="1"/>
          <p:nvPr/>
        </p:nvSpPr>
        <p:spPr>
          <a:xfrm>
            <a:off x="6903720" y="4526280"/>
            <a:ext cx="4572000" cy="254000"/>
          </a:xfrm>
          <a:prstGeom prst="rect">
            <a:avLst/>
          </a:prstGeom>
          <a:noFill/>
        </p:spPr>
        <p:txBody>
          <a:bodyPr wrap="square">
            <a:spAutoFit/>
          </a:bodyPr>
          <a:lstStyle/>
          <a:p>
            <a:pPr algn="l"/>
            <a:r>
              <a:rPr sz="1050" b="1" i="0">
                <a:solidFill>
                  <a:srgbClr val="FFFFFF"/>
                </a:solidFill>
                <a:latin typeface="Calibri"/>
              </a:rPr>
              <a:t>Volume Pricing</a:t>
            </a:r>
          </a:p>
        </p:txBody>
      </p:sp>
      <p:sp>
        <p:nvSpPr>
          <p:cNvPr id="36" name="TextBox 35"/>
          <p:cNvSpPr txBox="1"/>
          <p:nvPr/>
        </p:nvSpPr>
        <p:spPr>
          <a:xfrm>
            <a:off x="6903720" y="4800600"/>
            <a:ext cx="4572000" cy="254000"/>
          </a:xfrm>
          <a:prstGeom prst="rect">
            <a:avLst/>
          </a:prstGeom>
          <a:noFill/>
        </p:spPr>
        <p:txBody>
          <a:bodyPr wrap="square">
            <a:spAutoFit/>
          </a:bodyPr>
          <a:lstStyle/>
          <a:p>
            <a:pPr algn="l"/>
            <a:r>
              <a:rPr sz="900" b="0" i="0">
                <a:solidFill>
                  <a:srgbClr val="737373"/>
                </a:solidFill>
                <a:latin typeface="Calibri"/>
              </a:rPr>
              <a:t>Discounted rates for 10+ mandates / year</a:t>
            </a:r>
          </a:p>
        </p:txBody>
      </p:sp>
      <p:sp>
        <p:nvSpPr>
          <p:cNvPr id="37" name="TextBox 36"/>
          <p:cNvSpPr txBox="1"/>
          <p:nvPr/>
        </p:nvSpPr>
        <p:spPr>
          <a:xfrm>
            <a:off x="6903720" y="5212080"/>
            <a:ext cx="4572000" cy="254000"/>
          </a:xfrm>
          <a:prstGeom prst="rect">
            <a:avLst/>
          </a:prstGeom>
          <a:noFill/>
        </p:spPr>
        <p:txBody>
          <a:bodyPr wrap="square">
            <a:spAutoFit/>
          </a:bodyPr>
          <a:lstStyle/>
          <a:p>
            <a:pPr algn="l"/>
            <a:r>
              <a:rPr sz="1050" b="1" i="0">
                <a:solidFill>
                  <a:srgbClr val="FFFFFF"/>
                </a:solidFill>
                <a:latin typeface="Calibri"/>
              </a:rPr>
              <a:t>Priority Sourcing</a:t>
            </a:r>
          </a:p>
        </p:txBody>
      </p:sp>
      <p:sp>
        <p:nvSpPr>
          <p:cNvPr id="38" name="TextBox 37"/>
          <p:cNvSpPr txBox="1"/>
          <p:nvPr/>
        </p:nvSpPr>
        <p:spPr>
          <a:xfrm>
            <a:off x="6903720" y="5486400"/>
            <a:ext cx="4572000" cy="254000"/>
          </a:xfrm>
          <a:prstGeom prst="rect">
            <a:avLst/>
          </a:prstGeom>
          <a:noFill/>
        </p:spPr>
        <p:txBody>
          <a:bodyPr wrap="square">
            <a:spAutoFit/>
          </a:bodyPr>
          <a:lstStyle/>
          <a:p>
            <a:pPr algn="l"/>
            <a:r>
              <a:rPr sz="900" b="0" i="0">
                <a:solidFill>
                  <a:srgbClr val="737373"/>
                </a:solidFill>
                <a:latin typeface="Calibri"/>
              </a:rPr>
              <a:t>Your roles take precedence in our pipeline</a:t>
            </a:r>
          </a:p>
        </p:txBody>
      </p:sp>
      <p:sp>
        <p:nvSpPr>
          <p:cNvPr id="39" name="TextBox 38"/>
          <p:cNvSpPr txBox="1"/>
          <p:nvPr/>
        </p:nvSpPr>
        <p:spPr>
          <a:xfrm>
            <a:off x="6903720" y="5897880"/>
            <a:ext cx="4572000" cy="254000"/>
          </a:xfrm>
          <a:prstGeom prst="rect">
            <a:avLst/>
          </a:prstGeom>
          <a:noFill/>
        </p:spPr>
        <p:txBody>
          <a:bodyPr wrap="square">
            <a:spAutoFit/>
          </a:bodyPr>
          <a:lstStyle/>
          <a:p>
            <a:pPr algn="l"/>
            <a:r>
              <a:rPr sz="1050" b="1" i="0">
                <a:solidFill>
                  <a:srgbClr val="FFFFFF"/>
                </a:solidFill>
                <a:latin typeface="Calibri"/>
              </a:rPr>
              <a:t>Dedicated Point of Contact</a:t>
            </a:r>
          </a:p>
        </p:txBody>
      </p:sp>
      <p:sp>
        <p:nvSpPr>
          <p:cNvPr id="40" name="TextBox 39"/>
          <p:cNvSpPr txBox="1"/>
          <p:nvPr/>
        </p:nvSpPr>
        <p:spPr>
          <a:xfrm>
            <a:off x="6903720" y="6172200"/>
            <a:ext cx="4572000" cy="254000"/>
          </a:xfrm>
          <a:prstGeom prst="rect">
            <a:avLst/>
          </a:prstGeom>
          <a:noFill/>
        </p:spPr>
        <p:txBody>
          <a:bodyPr wrap="square">
            <a:spAutoFit/>
          </a:bodyPr>
          <a:lstStyle/>
          <a:p>
            <a:pPr algn="l"/>
            <a:r>
              <a:rPr sz="900" b="0" i="0">
                <a:solidFill>
                  <a:srgbClr val="737373"/>
                </a:solidFill>
                <a:latin typeface="Calibri"/>
              </a:rPr>
              <a:t>One senior partner, always available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WHY APPSTUDIOX</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150"/>
              </a:lnSpc>
            </a:pPr>
            <a:r>
              <a:rPr sz="3200" b="1" i="0">
                <a:solidFill>
                  <a:srgbClr val="FFFFFF"/>
                </a:solidFill>
                <a:latin typeface="Calibri"/>
              </a:rPr>
              <a:t>What makes us different from every
other search firm you have worked with.</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11680"/>
            <a:ext cx="5212080" cy="4572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2011680"/>
            <a:ext cx="5760720" cy="4572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57400"/>
            <a:ext cx="5212080" cy="254000"/>
          </a:xfrm>
          <a:prstGeom prst="rect">
            <a:avLst/>
          </a:prstGeom>
          <a:noFill/>
        </p:spPr>
        <p:txBody>
          <a:bodyPr wrap="square">
            <a:spAutoFit/>
          </a:bodyPr>
          <a:lstStyle/>
          <a:p>
            <a:pPr algn="l"/>
            <a:r>
              <a:rPr sz="1000" b="1" i="0">
                <a:solidFill>
                  <a:srgbClr val="737373"/>
                </a:solidFill>
                <a:latin typeface="Calibri"/>
              </a:rPr>
              <a:t>  The Typical Search Firm</a:t>
            </a:r>
          </a:p>
        </p:txBody>
      </p:sp>
      <p:sp>
        <p:nvSpPr>
          <p:cNvPr id="9" name="TextBox 8"/>
          <p:cNvSpPr txBox="1"/>
          <p:nvPr/>
        </p:nvSpPr>
        <p:spPr>
          <a:xfrm>
            <a:off x="6217920" y="2057400"/>
            <a:ext cx="5760720" cy="254000"/>
          </a:xfrm>
          <a:prstGeom prst="rect">
            <a:avLst/>
          </a:prstGeom>
          <a:noFill/>
        </p:spPr>
        <p:txBody>
          <a:bodyPr wrap="square">
            <a:spAutoFit/>
          </a:bodyPr>
          <a:lstStyle/>
          <a:p>
            <a:pPr algn="l"/>
            <a:r>
              <a:rPr sz="1000" b="1" i="0">
                <a:solidFill>
                  <a:srgbClr val="0D0D0D"/>
                </a:solidFill>
                <a:latin typeface="Calibri"/>
              </a:rPr>
              <a:t>  AppStudioX</a:t>
            </a:r>
          </a:p>
        </p:txBody>
      </p:sp>
      <p:sp>
        <p:nvSpPr>
          <p:cNvPr id="10" name="Rectangle 9"/>
          <p:cNvSpPr/>
          <p:nvPr/>
        </p:nvSpPr>
        <p:spPr>
          <a:xfrm>
            <a:off x="731520" y="2514600"/>
            <a:ext cx="5212080" cy="658368"/>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514600"/>
            <a:ext cx="5760720" cy="658368"/>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587752"/>
            <a:ext cx="4937760" cy="254000"/>
          </a:xfrm>
          <a:prstGeom prst="rect">
            <a:avLst/>
          </a:prstGeom>
          <a:noFill/>
        </p:spPr>
        <p:txBody>
          <a:bodyPr wrap="square">
            <a:spAutoFit/>
          </a:bodyPr>
          <a:lstStyle/>
          <a:p>
            <a:pPr algn="l"/>
            <a:r>
              <a:rPr sz="950" b="0" i="0">
                <a:solidFill>
                  <a:srgbClr val="888888"/>
                </a:solidFill>
                <a:latin typeface="Calibri"/>
              </a:rPr>
              <a:t>✗  Junior account managers handling senior searches</a:t>
            </a:r>
          </a:p>
        </p:txBody>
      </p:sp>
      <p:sp>
        <p:nvSpPr>
          <p:cNvPr id="13" name="TextBox 12"/>
          <p:cNvSpPr txBox="1"/>
          <p:nvPr/>
        </p:nvSpPr>
        <p:spPr>
          <a:xfrm>
            <a:off x="6355080" y="2587752"/>
            <a:ext cx="5394960" cy="254000"/>
          </a:xfrm>
          <a:prstGeom prst="rect">
            <a:avLst/>
          </a:prstGeom>
          <a:noFill/>
        </p:spPr>
        <p:txBody>
          <a:bodyPr wrap="square">
            <a:spAutoFit/>
          </a:bodyPr>
          <a:lstStyle/>
          <a:p>
            <a:pPr algn="l"/>
            <a:r>
              <a:rPr sz="950" b="0" i="0">
                <a:solidFill>
                  <a:srgbClr val="DDDDDD"/>
                </a:solidFill>
                <a:latin typeface="Calibri"/>
              </a:rPr>
              <a:t>✓  Senior practitioners who have led at the level they recruit for</a:t>
            </a:r>
          </a:p>
        </p:txBody>
      </p:sp>
      <p:sp>
        <p:nvSpPr>
          <p:cNvPr id="14" name="Rectangle 13"/>
          <p:cNvSpPr/>
          <p:nvPr/>
        </p:nvSpPr>
        <p:spPr>
          <a:xfrm>
            <a:off x="731520" y="3227832"/>
            <a:ext cx="5212080" cy="658368"/>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227832"/>
            <a:ext cx="5760720" cy="658368"/>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300984"/>
            <a:ext cx="4937760" cy="254000"/>
          </a:xfrm>
          <a:prstGeom prst="rect">
            <a:avLst/>
          </a:prstGeom>
          <a:noFill/>
        </p:spPr>
        <p:txBody>
          <a:bodyPr wrap="square">
            <a:spAutoFit/>
          </a:bodyPr>
          <a:lstStyle/>
          <a:p>
            <a:pPr algn="l"/>
            <a:r>
              <a:rPr sz="950" b="0" i="0">
                <a:solidFill>
                  <a:srgbClr val="888888"/>
                </a:solidFill>
                <a:latin typeface="Calibri"/>
              </a:rPr>
              <a:t>✗  Database-first: search, filter, send</a:t>
            </a:r>
          </a:p>
        </p:txBody>
      </p:sp>
      <p:sp>
        <p:nvSpPr>
          <p:cNvPr id="17" name="TextBox 16"/>
          <p:cNvSpPr txBox="1"/>
          <p:nvPr/>
        </p:nvSpPr>
        <p:spPr>
          <a:xfrm>
            <a:off x="6355080" y="3300984"/>
            <a:ext cx="5394960" cy="254000"/>
          </a:xfrm>
          <a:prstGeom prst="rect">
            <a:avLst/>
          </a:prstGeom>
          <a:noFill/>
        </p:spPr>
        <p:txBody>
          <a:bodyPr wrap="square">
            <a:spAutoFit/>
          </a:bodyPr>
          <a:lstStyle/>
          <a:p>
            <a:pPr algn="l"/>
            <a:r>
              <a:rPr sz="950" b="0" i="0">
                <a:solidFill>
                  <a:srgbClr val="DDDDDD"/>
                </a:solidFill>
                <a:latin typeface="Calibri"/>
              </a:rPr>
              <a:t>✓  Network-first: direct relationships with passive talent</a:t>
            </a:r>
          </a:p>
        </p:txBody>
      </p:sp>
      <p:sp>
        <p:nvSpPr>
          <p:cNvPr id="18" name="Rectangle 17"/>
          <p:cNvSpPr/>
          <p:nvPr/>
        </p:nvSpPr>
        <p:spPr>
          <a:xfrm>
            <a:off x="731520" y="3941064"/>
            <a:ext cx="5212080" cy="658368"/>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941064"/>
            <a:ext cx="5760720" cy="658368"/>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14216"/>
            <a:ext cx="4937760" cy="254000"/>
          </a:xfrm>
          <a:prstGeom prst="rect">
            <a:avLst/>
          </a:prstGeom>
          <a:noFill/>
        </p:spPr>
        <p:txBody>
          <a:bodyPr wrap="square">
            <a:spAutoFit/>
          </a:bodyPr>
          <a:lstStyle/>
          <a:p>
            <a:pPr algn="l"/>
            <a:r>
              <a:rPr sz="950" b="0" i="0">
                <a:solidFill>
                  <a:srgbClr val="888888"/>
                </a:solidFill>
                <a:latin typeface="Calibri"/>
              </a:rPr>
              <a:t>✗  25–30 CVs on a shortlist, leaving filtering to you</a:t>
            </a:r>
          </a:p>
        </p:txBody>
      </p:sp>
      <p:sp>
        <p:nvSpPr>
          <p:cNvPr id="21" name="TextBox 20"/>
          <p:cNvSpPr txBox="1"/>
          <p:nvPr/>
        </p:nvSpPr>
        <p:spPr>
          <a:xfrm>
            <a:off x="6355080" y="4014216"/>
            <a:ext cx="5394960" cy="254000"/>
          </a:xfrm>
          <a:prstGeom prst="rect">
            <a:avLst/>
          </a:prstGeom>
          <a:noFill/>
        </p:spPr>
        <p:txBody>
          <a:bodyPr wrap="square">
            <a:spAutoFit/>
          </a:bodyPr>
          <a:lstStyle/>
          <a:p>
            <a:pPr algn="l"/>
            <a:r>
              <a:rPr sz="950" b="0" i="0">
                <a:solidFill>
                  <a:srgbClr val="DDDDDD"/>
                </a:solidFill>
                <a:latin typeface="Calibri"/>
              </a:rPr>
              <a:t>✓  3–5 assessed candidates: every one worth your time</a:t>
            </a:r>
          </a:p>
        </p:txBody>
      </p:sp>
      <p:sp>
        <p:nvSpPr>
          <p:cNvPr id="22" name="Rectangle 21"/>
          <p:cNvSpPr/>
          <p:nvPr/>
        </p:nvSpPr>
        <p:spPr>
          <a:xfrm>
            <a:off x="731520" y="4654296"/>
            <a:ext cx="5212080" cy="658368"/>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4654296"/>
            <a:ext cx="5760720" cy="658368"/>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727448"/>
            <a:ext cx="4937760" cy="254000"/>
          </a:xfrm>
          <a:prstGeom prst="rect">
            <a:avLst/>
          </a:prstGeom>
          <a:noFill/>
        </p:spPr>
        <p:txBody>
          <a:bodyPr wrap="square">
            <a:spAutoFit/>
          </a:bodyPr>
          <a:lstStyle/>
          <a:p>
            <a:pPr algn="l"/>
            <a:r>
              <a:rPr sz="950" b="0" i="0">
                <a:solidFill>
                  <a:srgbClr val="888888"/>
                </a:solidFill>
                <a:latin typeface="Calibri"/>
              </a:rPr>
              <a:t>✗  Transactional: fill the role, move on</a:t>
            </a:r>
          </a:p>
        </p:txBody>
      </p:sp>
      <p:sp>
        <p:nvSpPr>
          <p:cNvPr id="25" name="TextBox 24"/>
          <p:cNvSpPr txBox="1"/>
          <p:nvPr/>
        </p:nvSpPr>
        <p:spPr>
          <a:xfrm>
            <a:off x="6355080" y="4727448"/>
            <a:ext cx="5394960" cy="254000"/>
          </a:xfrm>
          <a:prstGeom prst="rect">
            <a:avLst/>
          </a:prstGeom>
          <a:noFill/>
        </p:spPr>
        <p:txBody>
          <a:bodyPr wrap="square">
            <a:spAutoFit/>
          </a:bodyPr>
          <a:lstStyle/>
          <a:p>
            <a:pPr algn="l"/>
            <a:r>
              <a:rPr sz="950" b="0" i="0">
                <a:solidFill>
                  <a:srgbClr val="DDDDDD"/>
                </a:solidFill>
                <a:latin typeface="Calibri"/>
              </a:rPr>
              <a:t>✓  Retained partnership: invested in your long-term success</a:t>
            </a:r>
          </a:p>
        </p:txBody>
      </p:sp>
      <p:sp>
        <p:nvSpPr>
          <p:cNvPr id="26" name="Rectangle 25"/>
          <p:cNvSpPr/>
          <p:nvPr/>
        </p:nvSpPr>
        <p:spPr>
          <a:xfrm>
            <a:off x="731520" y="5367528"/>
            <a:ext cx="5212080" cy="658368"/>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5367528"/>
            <a:ext cx="5760720" cy="658368"/>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5440680"/>
            <a:ext cx="4937760" cy="254000"/>
          </a:xfrm>
          <a:prstGeom prst="rect">
            <a:avLst/>
          </a:prstGeom>
          <a:noFill/>
        </p:spPr>
        <p:txBody>
          <a:bodyPr wrap="square">
            <a:spAutoFit/>
          </a:bodyPr>
          <a:lstStyle/>
          <a:p>
            <a:pPr algn="l"/>
            <a:r>
              <a:rPr sz="950" b="0" i="0">
                <a:solidFill>
                  <a:srgbClr val="888888"/>
                </a:solidFill>
                <a:latin typeface="Calibri"/>
              </a:rPr>
              <a:t>✗  Technology knowledge is general</a:t>
            </a:r>
          </a:p>
        </p:txBody>
      </p:sp>
      <p:sp>
        <p:nvSpPr>
          <p:cNvPr id="29" name="TextBox 28"/>
          <p:cNvSpPr txBox="1"/>
          <p:nvPr/>
        </p:nvSpPr>
        <p:spPr>
          <a:xfrm>
            <a:off x="6355080" y="5440680"/>
            <a:ext cx="5394960" cy="254000"/>
          </a:xfrm>
          <a:prstGeom prst="rect">
            <a:avLst/>
          </a:prstGeom>
          <a:noFill/>
        </p:spPr>
        <p:txBody>
          <a:bodyPr wrap="square">
            <a:spAutoFit/>
          </a:bodyPr>
          <a:lstStyle/>
          <a:p>
            <a:pPr algn="l"/>
            <a:r>
              <a:rPr sz="950" b="0" i="0">
                <a:solidFill>
                  <a:srgbClr val="DDDDDD"/>
                </a:solidFill>
                <a:latin typeface="Calibri"/>
              </a:rPr>
              <a:t>✓  Deep domain expertise in .NET, Java, MuleSoft, Azure, AWS, GenAI</a:t>
            </a:r>
          </a:p>
        </p:txBody>
      </p:sp>
      <p:sp>
        <p:nvSpPr>
          <p:cNvPr id="30" name="Rectangle 29"/>
          <p:cNvSpPr/>
          <p:nvPr/>
        </p:nvSpPr>
        <p:spPr>
          <a:xfrm>
            <a:off x="731520" y="6080760"/>
            <a:ext cx="5212080" cy="658368"/>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6080760"/>
            <a:ext cx="5760720" cy="658368"/>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6153912"/>
            <a:ext cx="4937760" cy="254000"/>
          </a:xfrm>
          <a:prstGeom prst="rect">
            <a:avLst/>
          </a:prstGeom>
          <a:noFill/>
        </p:spPr>
        <p:txBody>
          <a:bodyPr wrap="square">
            <a:spAutoFit/>
          </a:bodyPr>
          <a:lstStyle/>
          <a:p>
            <a:pPr algn="l"/>
            <a:r>
              <a:rPr sz="950" b="0" i="0">
                <a:solidFill>
                  <a:srgbClr val="888888"/>
                </a:solidFill>
                <a:latin typeface="Calibri"/>
              </a:rPr>
              <a:t>✗  Replacement terms buried in T&amp;Cs</a:t>
            </a:r>
          </a:p>
        </p:txBody>
      </p:sp>
      <p:sp>
        <p:nvSpPr>
          <p:cNvPr id="33" name="TextBox 32"/>
          <p:cNvSpPr txBox="1"/>
          <p:nvPr/>
        </p:nvSpPr>
        <p:spPr>
          <a:xfrm>
            <a:off x="6355080" y="6153912"/>
            <a:ext cx="5394960" cy="254000"/>
          </a:xfrm>
          <a:prstGeom prst="rect">
            <a:avLst/>
          </a:prstGeom>
          <a:noFill/>
        </p:spPr>
        <p:txBody>
          <a:bodyPr wrap="square">
            <a:spAutoFit/>
          </a:bodyPr>
          <a:lstStyle/>
          <a:p>
            <a:pPr algn="l"/>
            <a:r>
              <a:rPr sz="950" b="0" i="0">
                <a:solidFill>
                  <a:srgbClr val="DDDDDD"/>
                </a:solidFill>
                <a:latin typeface="Calibri"/>
              </a:rPr>
              <a:t>✓  Clear 6-month replacement guarantee on every placement</a:t>
            </a:r>
          </a:p>
        </p:txBody>
      </p:sp>
      <p:sp>
        <p:nvSpPr>
          <p:cNvPr id="34" name="Rectangle 33"/>
          <p:cNvSpPr/>
          <p:nvPr/>
        </p:nvSpPr>
        <p:spPr>
          <a:xfrm>
            <a:off x="731520" y="6793992"/>
            <a:ext cx="5212080" cy="658368"/>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17920" y="6793992"/>
            <a:ext cx="5760720" cy="658368"/>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6867144"/>
            <a:ext cx="4937760" cy="254000"/>
          </a:xfrm>
          <a:prstGeom prst="rect">
            <a:avLst/>
          </a:prstGeom>
          <a:noFill/>
        </p:spPr>
        <p:txBody>
          <a:bodyPr wrap="square">
            <a:spAutoFit/>
          </a:bodyPr>
          <a:lstStyle/>
          <a:p>
            <a:pPr algn="l"/>
            <a:r>
              <a:rPr sz="950" b="0" i="0">
                <a:solidFill>
                  <a:srgbClr val="888888"/>
                </a:solidFill>
                <a:latin typeface="Calibri"/>
              </a:rPr>
              <a:t>✗  You're one of hundreds of clients</a:t>
            </a:r>
          </a:p>
        </p:txBody>
      </p:sp>
      <p:sp>
        <p:nvSpPr>
          <p:cNvPr id="37" name="TextBox 36"/>
          <p:cNvSpPr txBox="1"/>
          <p:nvPr/>
        </p:nvSpPr>
        <p:spPr>
          <a:xfrm>
            <a:off x="6355080" y="6867144"/>
            <a:ext cx="5394960" cy="254000"/>
          </a:xfrm>
          <a:prstGeom prst="rect">
            <a:avLst/>
          </a:prstGeom>
          <a:noFill/>
        </p:spPr>
        <p:txBody>
          <a:bodyPr wrap="square">
            <a:spAutoFit/>
          </a:bodyPr>
          <a:lstStyle/>
          <a:p>
            <a:pPr algn="l"/>
            <a:r>
              <a:rPr sz="950" b="0" i="0">
                <a:solidFill>
                  <a:srgbClr val="DDDDDD"/>
                </a:solidFill>
                <a:latin typeface="Calibri"/>
              </a:rPr>
              <a:t>✓  Named senior partner dedicated to your account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PROPOSED PILOT</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150"/>
              </a:lnSpc>
            </a:pPr>
            <a:r>
              <a:rPr sz="3200" b="1" i="0">
                <a:solidFill>
                  <a:srgbClr val="0D0D0D"/>
                </a:solidFill>
                <a:latin typeface="Calibri"/>
              </a:rPr>
              <a:t>We recommend beginning with a structured
90-day pilot to demonstrate fit and quality.</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10515600" cy="1005840"/>
          </a:xfrm>
          <a:prstGeom prst="rect">
            <a:avLst/>
          </a:prstGeom>
          <a:noFill/>
        </p:spPr>
        <p:txBody>
          <a:bodyPr wrap="square">
            <a:spAutoFit/>
          </a:bodyPr>
          <a:lstStyle/>
          <a:p>
            <a:pPr algn="l">
              <a:lnSpc>
                <a:spcPct val="1500"/>
              </a:lnSpc>
            </a:pPr>
            <a:r>
              <a:rPr sz="1150" b="0" i="0">
                <a:solidFill>
                  <a:srgbClr val="404040"/>
                </a:solidFill>
                <a:latin typeface="Calibri"/>
              </a:rPr>
              <a:t>The fastest way to build a long-term partnership is to start well. We propose beginning with 3–5 carefully selected mandates where we can demonstrate the quality of our sourcing, vetting, and candidate experience — and where you can evaluate our way of working before expanding the engagement.</a:t>
            </a:r>
          </a:p>
        </p:txBody>
      </p:sp>
      <p:sp>
        <p:nvSpPr>
          <p:cNvPr id="7" name="Rectangle 6"/>
          <p:cNvSpPr/>
          <p:nvPr/>
        </p:nvSpPr>
        <p:spPr>
          <a:xfrm>
            <a:off x="731520" y="3108960"/>
            <a:ext cx="3657600" cy="320040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108960"/>
            <a:ext cx="365760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46120"/>
            <a:ext cx="3291840" cy="355600"/>
          </a:xfrm>
          <a:prstGeom prst="rect">
            <a:avLst/>
          </a:prstGeom>
          <a:noFill/>
        </p:spPr>
        <p:txBody>
          <a:bodyPr wrap="square">
            <a:spAutoFit/>
          </a:bodyPr>
          <a:lstStyle/>
          <a:p>
            <a:pPr algn="l">
              <a:lnSpc>
                <a:spcPct val="1300"/>
              </a:lnSpc>
            </a:pPr>
            <a:r>
              <a:rPr sz="1300" b="1" i="0">
                <a:solidFill>
                  <a:srgbClr val="0D0D0D"/>
                </a:solidFill>
                <a:latin typeface="Calibri"/>
              </a:rPr>
              <a:t>Month 1
Kickoff &amp; Brief</a:t>
            </a:r>
          </a:p>
        </p:txBody>
      </p:sp>
      <p:sp>
        <p:nvSpPr>
          <p:cNvPr id="10" name="TextBox 9"/>
          <p:cNvSpPr txBox="1"/>
          <p:nvPr/>
        </p:nvSpPr>
        <p:spPr>
          <a:xfrm>
            <a:off x="914400" y="3886200"/>
            <a:ext cx="3291840" cy="2286000"/>
          </a:xfrm>
          <a:prstGeom prst="rect">
            <a:avLst/>
          </a:prstGeom>
          <a:noFill/>
        </p:spPr>
        <p:txBody>
          <a:bodyPr wrap="square">
            <a:spAutoFit/>
          </a:bodyPr>
          <a:lstStyle/>
          <a:p>
            <a:pPr algn="l">
              <a:lnSpc>
                <a:spcPct val="1400"/>
              </a:lnSpc>
            </a:pPr>
            <a:r>
              <a:rPr sz="1000" b="0" i="0">
                <a:solidFill>
                  <a:srgbClr val="404040"/>
                </a:solidFill>
                <a:latin typeface="Calibri"/>
              </a:rPr>
              <a:t>MSA signed. Kick-off meeting with TA and hiring managers. Role briefs completed for 3–5 selected mandates. Account partner assigned.</a:t>
            </a:r>
          </a:p>
        </p:txBody>
      </p:sp>
      <p:sp>
        <p:nvSpPr>
          <p:cNvPr id="11" name="Rectangle 10"/>
          <p:cNvSpPr/>
          <p:nvPr/>
        </p:nvSpPr>
        <p:spPr>
          <a:xfrm>
            <a:off x="4590288" y="3108960"/>
            <a:ext cx="3657600" cy="320040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90288" y="3108960"/>
            <a:ext cx="365760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73168" y="3246120"/>
            <a:ext cx="3291840" cy="355600"/>
          </a:xfrm>
          <a:prstGeom prst="rect">
            <a:avLst/>
          </a:prstGeom>
          <a:noFill/>
        </p:spPr>
        <p:txBody>
          <a:bodyPr wrap="square">
            <a:spAutoFit/>
          </a:bodyPr>
          <a:lstStyle/>
          <a:p>
            <a:pPr algn="l">
              <a:lnSpc>
                <a:spcPct val="1300"/>
              </a:lnSpc>
            </a:pPr>
            <a:r>
              <a:rPr sz="1300" b="1" i="0">
                <a:solidFill>
                  <a:srgbClr val="0D0D0D"/>
                </a:solidFill>
                <a:latin typeface="Calibri"/>
              </a:rPr>
              <a:t>Month 2
Active Sourcing</a:t>
            </a:r>
          </a:p>
        </p:txBody>
      </p:sp>
      <p:sp>
        <p:nvSpPr>
          <p:cNvPr id="14" name="TextBox 13"/>
          <p:cNvSpPr txBox="1"/>
          <p:nvPr/>
        </p:nvSpPr>
        <p:spPr>
          <a:xfrm>
            <a:off x="4773168" y="3886200"/>
            <a:ext cx="3291840" cy="2286000"/>
          </a:xfrm>
          <a:prstGeom prst="rect">
            <a:avLst/>
          </a:prstGeom>
          <a:noFill/>
        </p:spPr>
        <p:txBody>
          <a:bodyPr wrap="square">
            <a:spAutoFit/>
          </a:bodyPr>
          <a:lstStyle/>
          <a:p>
            <a:pPr algn="l">
              <a:lnSpc>
                <a:spcPct val="1400"/>
              </a:lnSpc>
            </a:pPr>
            <a:r>
              <a:rPr sz="1000" b="0" i="0">
                <a:solidFill>
                  <a:srgbClr val="404040"/>
                </a:solidFill>
                <a:latin typeface="Calibri"/>
              </a:rPr>
              <a:t>Sourcing, screening, and assessment underway. Shortlists delivered for first 2–3 roles. Interview scheduling supported by our team throughout.</a:t>
            </a:r>
          </a:p>
        </p:txBody>
      </p:sp>
      <p:sp>
        <p:nvSpPr>
          <p:cNvPr id="15" name="Rectangle 14"/>
          <p:cNvSpPr/>
          <p:nvPr/>
        </p:nvSpPr>
        <p:spPr>
          <a:xfrm>
            <a:off x="8449056" y="3108960"/>
            <a:ext cx="3657600" cy="320040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49056" y="3108960"/>
            <a:ext cx="365760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31936" y="3246120"/>
            <a:ext cx="3291840" cy="355600"/>
          </a:xfrm>
          <a:prstGeom prst="rect">
            <a:avLst/>
          </a:prstGeom>
          <a:noFill/>
        </p:spPr>
        <p:txBody>
          <a:bodyPr wrap="square">
            <a:spAutoFit/>
          </a:bodyPr>
          <a:lstStyle/>
          <a:p>
            <a:pPr algn="l">
              <a:lnSpc>
                <a:spcPct val="1300"/>
              </a:lnSpc>
            </a:pPr>
            <a:r>
              <a:rPr sz="1300" b="1" i="0">
                <a:solidFill>
                  <a:srgbClr val="0D0D0D"/>
                </a:solidFill>
                <a:latin typeface="Calibri"/>
              </a:rPr>
              <a:t>Month 3
Placements &amp; Review</a:t>
            </a:r>
          </a:p>
        </p:txBody>
      </p:sp>
      <p:sp>
        <p:nvSpPr>
          <p:cNvPr id="18" name="TextBox 17"/>
          <p:cNvSpPr txBox="1"/>
          <p:nvPr/>
        </p:nvSpPr>
        <p:spPr>
          <a:xfrm>
            <a:off x="8631936" y="3886200"/>
            <a:ext cx="3291840" cy="2286000"/>
          </a:xfrm>
          <a:prstGeom prst="rect">
            <a:avLst/>
          </a:prstGeom>
          <a:noFill/>
        </p:spPr>
        <p:txBody>
          <a:bodyPr wrap="square">
            <a:spAutoFit/>
          </a:bodyPr>
          <a:lstStyle/>
          <a:p>
            <a:pPr algn="l">
              <a:lnSpc>
                <a:spcPct val="1400"/>
              </a:lnSpc>
            </a:pPr>
            <a:r>
              <a:rPr sz="1000" b="0" i="0">
                <a:solidFill>
                  <a:srgbClr val="404040"/>
                </a:solidFill>
                <a:latin typeface="Calibri"/>
              </a:rPr>
              <a:t>Placements completed on pilot roles. Quarterly business review — pipeline, quality scorecard, market intelligence debrief. Expansion scope discussed.</a:t>
            </a:r>
          </a:p>
        </p:txBody>
      </p:sp>
      <p:sp>
        <p:nvSpPr>
          <p:cNvPr id="19" name="Rectangle 18"/>
          <p:cNvSpPr/>
          <p:nvPr/>
        </p:nvSpPr>
        <p:spPr>
          <a:xfrm>
            <a:off x="731520" y="6263640"/>
            <a:ext cx="10515600" cy="4572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6309360"/>
            <a:ext cx="10241280" cy="304800"/>
          </a:xfrm>
          <a:prstGeom prst="rect">
            <a:avLst/>
          </a:prstGeom>
          <a:noFill/>
        </p:spPr>
        <p:txBody>
          <a:bodyPr wrap="square">
            <a:spAutoFit/>
          </a:bodyPr>
          <a:lstStyle/>
          <a:p>
            <a:pPr algn="l"/>
            <a:r>
              <a:rPr sz="950" b="0" i="0">
                <a:solidFill>
                  <a:srgbClr val="404040"/>
                </a:solidFill>
                <a:latin typeface="Calibri"/>
              </a:rPr>
              <a:t>Pilot commitments:  |  Named senior partner  |  15–20 day shortlist SLA  |  Shortlist review call within 48 hours of delivery  |  6-month replacement guarantee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OUR TRACK RECORD</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150"/>
              </a:lnSpc>
            </a:pPr>
            <a:r>
              <a:rPr sz="3200" b="1" i="0">
                <a:solidFill>
                  <a:srgbClr val="FFFFFF"/>
                </a:solidFill>
                <a:latin typeface="Calibri"/>
              </a:rPr>
              <a:t>47+ iconic brands have trusted us
with their most important hires.</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57400"/>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94560"/>
            <a:ext cx="1874519" cy="304800"/>
          </a:xfrm>
          <a:prstGeom prst="rect">
            <a:avLst/>
          </a:prstGeom>
          <a:noFill/>
        </p:spPr>
        <p:txBody>
          <a:bodyPr wrap="square">
            <a:spAutoFit/>
          </a:bodyPr>
          <a:lstStyle/>
          <a:p>
            <a:pPr algn="ctr"/>
            <a:r>
              <a:rPr sz="1100" b="1" i="0">
                <a:solidFill>
                  <a:srgbClr val="FFFFFF"/>
                </a:solidFill>
                <a:latin typeface="Calibri"/>
              </a:rPr>
              <a:t>Times Group</a:t>
            </a:r>
          </a:p>
        </p:txBody>
      </p:sp>
      <p:sp>
        <p:nvSpPr>
          <p:cNvPr id="8" name="Rectangle 7"/>
          <p:cNvSpPr/>
          <p:nvPr/>
        </p:nvSpPr>
        <p:spPr>
          <a:xfrm>
            <a:off x="2944368" y="2057400"/>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35808" y="2194560"/>
            <a:ext cx="1874519" cy="304800"/>
          </a:xfrm>
          <a:prstGeom prst="rect">
            <a:avLst/>
          </a:prstGeom>
          <a:noFill/>
        </p:spPr>
        <p:txBody>
          <a:bodyPr wrap="square">
            <a:spAutoFit/>
          </a:bodyPr>
          <a:lstStyle/>
          <a:p>
            <a:pPr algn="ctr"/>
            <a:r>
              <a:rPr sz="1100" b="1" i="0">
                <a:solidFill>
                  <a:srgbClr val="FFFFFF"/>
                </a:solidFill>
                <a:latin typeface="Calibri"/>
              </a:rPr>
              <a:t>Nykaa</a:t>
            </a:r>
          </a:p>
        </p:txBody>
      </p:sp>
      <p:sp>
        <p:nvSpPr>
          <p:cNvPr id="10" name="Rectangle 9"/>
          <p:cNvSpPr/>
          <p:nvPr/>
        </p:nvSpPr>
        <p:spPr>
          <a:xfrm>
            <a:off x="5157216" y="2057400"/>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48656" y="2194560"/>
            <a:ext cx="1874519" cy="304800"/>
          </a:xfrm>
          <a:prstGeom prst="rect">
            <a:avLst/>
          </a:prstGeom>
          <a:noFill/>
        </p:spPr>
        <p:txBody>
          <a:bodyPr wrap="square">
            <a:spAutoFit/>
          </a:bodyPr>
          <a:lstStyle/>
          <a:p>
            <a:pPr algn="ctr"/>
            <a:r>
              <a:rPr sz="1100" b="1" i="0">
                <a:solidFill>
                  <a:srgbClr val="FFFFFF"/>
                </a:solidFill>
                <a:latin typeface="Calibri"/>
              </a:rPr>
              <a:t>Amazon</a:t>
            </a:r>
          </a:p>
        </p:txBody>
      </p:sp>
      <p:sp>
        <p:nvSpPr>
          <p:cNvPr id="12" name="Rectangle 11"/>
          <p:cNvSpPr/>
          <p:nvPr/>
        </p:nvSpPr>
        <p:spPr>
          <a:xfrm>
            <a:off x="7370064" y="2057400"/>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61504" y="2194560"/>
            <a:ext cx="1874519" cy="304800"/>
          </a:xfrm>
          <a:prstGeom prst="rect">
            <a:avLst/>
          </a:prstGeom>
          <a:noFill/>
        </p:spPr>
        <p:txBody>
          <a:bodyPr wrap="square">
            <a:spAutoFit/>
          </a:bodyPr>
          <a:lstStyle/>
          <a:p>
            <a:pPr algn="ctr"/>
            <a:r>
              <a:rPr sz="1100" b="1" i="0">
                <a:solidFill>
                  <a:srgbClr val="FFFFFF"/>
                </a:solidFill>
                <a:latin typeface="Calibri"/>
              </a:rPr>
              <a:t>Ola</a:t>
            </a:r>
          </a:p>
        </p:txBody>
      </p:sp>
      <p:sp>
        <p:nvSpPr>
          <p:cNvPr id="14" name="Rectangle 13"/>
          <p:cNvSpPr/>
          <p:nvPr/>
        </p:nvSpPr>
        <p:spPr>
          <a:xfrm>
            <a:off x="9582912" y="2057400"/>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74352" y="2194560"/>
            <a:ext cx="1874519" cy="304800"/>
          </a:xfrm>
          <a:prstGeom prst="rect">
            <a:avLst/>
          </a:prstGeom>
          <a:noFill/>
        </p:spPr>
        <p:txBody>
          <a:bodyPr wrap="square">
            <a:spAutoFit/>
          </a:bodyPr>
          <a:lstStyle/>
          <a:p>
            <a:pPr algn="ctr"/>
            <a:r>
              <a:rPr sz="1100" b="1" i="0">
                <a:solidFill>
                  <a:srgbClr val="FFFFFF"/>
                </a:solidFill>
                <a:latin typeface="Calibri"/>
              </a:rPr>
              <a:t>BBC</a:t>
            </a:r>
          </a:p>
        </p:txBody>
      </p:sp>
      <p:sp>
        <p:nvSpPr>
          <p:cNvPr id="16" name="Rectangle 15"/>
          <p:cNvSpPr/>
          <p:nvPr/>
        </p:nvSpPr>
        <p:spPr>
          <a:xfrm>
            <a:off x="731520" y="2898648"/>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035808"/>
            <a:ext cx="1874519" cy="304800"/>
          </a:xfrm>
          <a:prstGeom prst="rect">
            <a:avLst/>
          </a:prstGeom>
          <a:noFill/>
        </p:spPr>
        <p:txBody>
          <a:bodyPr wrap="square">
            <a:spAutoFit/>
          </a:bodyPr>
          <a:lstStyle/>
          <a:p>
            <a:pPr algn="ctr"/>
            <a:r>
              <a:rPr sz="1100" b="1" i="0">
                <a:solidFill>
                  <a:srgbClr val="FFFFFF"/>
                </a:solidFill>
                <a:latin typeface="Calibri"/>
              </a:rPr>
              <a:t>Lenskart</a:t>
            </a:r>
          </a:p>
        </p:txBody>
      </p:sp>
      <p:sp>
        <p:nvSpPr>
          <p:cNvPr id="18" name="Rectangle 17"/>
          <p:cNvSpPr/>
          <p:nvPr/>
        </p:nvSpPr>
        <p:spPr>
          <a:xfrm>
            <a:off x="2944368" y="2898648"/>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35808" y="3035808"/>
            <a:ext cx="1874519" cy="304800"/>
          </a:xfrm>
          <a:prstGeom prst="rect">
            <a:avLst/>
          </a:prstGeom>
          <a:noFill/>
        </p:spPr>
        <p:txBody>
          <a:bodyPr wrap="square">
            <a:spAutoFit/>
          </a:bodyPr>
          <a:lstStyle/>
          <a:p>
            <a:pPr algn="ctr"/>
            <a:r>
              <a:rPr sz="1100" b="1" i="0">
                <a:solidFill>
                  <a:srgbClr val="FFFFFF"/>
                </a:solidFill>
                <a:latin typeface="Calibri"/>
              </a:rPr>
              <a:t>BYJU'S</a:t>
            </a:r>
          </a:p>
        </p:txBody>
      </p:sp>
      <p:sp>
        <p:nvSpPr>
          <p:cNvPr id="20" name="Rectangle 19"/>
          <p:cNvSpPr/>
          <p:nvPr/>
        </p:nvSpPr>
        <p:spPr>
          <a:xfrm>
            <a:off x="5157216" y="2898648"/>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3035808"/>
            <a:ext cx="1874519" cy="304800"/>
          </a:xfrm>
          <a:prstGeom prst="rect">
            <a:avLst/>
          </a:prstGeom>
          <a:noFill/>
        </p:spPr>
        <p:txBody>
          <a:bodyPr wrap="square">
            <a:spAutoFit/>
          </a:bodyPr>
          <a:lstStyle/>
          <a:p>
            <a:pPr algn="ctr"/>
            <a:r>
              <a:rPr sz="1100" b="1" i="0">
                <a:solidFill>
                  <a:srgbClr val="FFFFFF"/>
                </a:solidFill>
                <a:latin typeface="Calibri"/>
              </a:rPr>
              <a:t>Zomato</a:t>
            </a:r>
          </a:p>
        </p:txBody>
      </p:sp>
      <p:sp>
        <p:nvSpPr>
          <p:cNvPr id="22" name="Rectangle 21"/>
          <p:cNvSpPr/>
          <p:nvPr/>
        </p:nvSpPr>
        <p:spPr>
          <a:xfrm>
            <a:off x="7370064" y="2898648"/>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3035808"/>
            <a:ext cx="1874519" cy="304800"/>
          </a:xfrm>
          <a:prstGeom prst="rect">
            <a:avLst/>
          </a:prstGeom>
          <a:noFill/>
        </p:spPr>
        <p:txBody>
          <a:bodyPr wrap="square">
            <a:spAutoFit/>
          </a:bodyPr>
          <a:lstStyle/>
          <a:p>
            <a:pPr algn="ctr"/>
            <a:r>
              <a:rPr sz="1100" b="1" i="0">
                <a:solidFill>
                  <a:srgbClr val="FFFFFF"/>
                </a:solidFill>
                <a:latin typeface="Calibri"/>
              </a:rPr>
              <a:t>Swiggy</a:t>
            </a:r>
          </a:p>
        </p:txBody>
      </p:sp>
      <p:sp>
        <p:nvSpPr>
          <p:cNvPr id="24" name="Rectangle 23"/>
          <p:cNvSpPr/>
          <p:nvPr/>
        </p:nvSpPr>
        <p:spPr>
          <a:xfrm>
            <a:off x="9582912" y="2898648"/>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74352" y="3035808"/>
            <a:ext cx="1874519" cy="304800"/>
          </a:xfrm>
          <a:prstGeom prst="rect">
            <a:avLst/>
          </a:prstGeom>
          <a:noFill/>
        </p:spPr>
        <p:txBody>
          <a:bodyPr wrap="square">
            <a:spAutoFit/>
          </a:bodyPr>
          <a:lstStyle/>
          <a:p>
            <a:pPr algn="ctr"/>
            <a:r>
              <a:rPr sz="1100" b="1" i="0">
                <a:solidFill>
                  <a:srgbClr val="FFFFFF"/>
                </a:solidFill>
                <a:latin typeface="Calibri"/>
              </a:rPr>
              <a:t>Meesho</a:t>
            </a:r>
          </a:p>
        </p:txBody>
      </p:sp>
      <p:sp>
        <p:nvSpPr>
          <p:cNvPr id="26" name="Rectangle 25"/>
          <p:cNvSpPr/>
          <p:nvPr/>
        </p:nvSpPr>
        <p:spPr>
          <a:xfrm>
            <a:off x="731520" y="3739896"/>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877056"/>
            <a:ext cx="1874519" cy="304800"/>
          </a:xfrm>
          <a:prstGeom prst="rect">
            <a:avLst/>
          </a:prstGeom>
          <a:noFill/>
        </p:spPr>
        <p:txBody>
          <a:bodyPr wrap="square">
            <a:spAutoFit/>
          </a:bodyPr>
          <a:lstStyle/>
          <a:p>
            <a:pPr algn="ctr"/>
            <a:r>
              <a:rPr sz="1100" b="1" i="0">
                <a:solidFill>
                  <a:srgbClr val="FFFFFF"/>
                </a:solidFill>
                <a:latin typeface="Calibri"/>
              </a:rPr>
              <a:t>PhonePe</a:t>
            </a:r>
          </a:p>
        </p:txBody>
      </p:sp>
      <p:sp>
        <p:nvSpPr>
          <p:cNvPr id="28" name="Rectangle 27"/>
          <p:cNvSpPr/>
          <p:nvPr/>
        </p:nvSpPr>
        <p:spPr>
          <a:xfrm>
            <a:off x="2944368" y="3739896"/>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35808" y="3877056"/>
            <a:ext cx="1874519" cy="304800"/>
          </a:xfrm>
          <a:prstGeom prst="rect">
            <a:avLst/>
          </a:prstGeom>
          <a:noFill/>
        </p:spPr>
        <p:txBody>
          <a:bodyPr wrap="square">
            <a:spAutoFit/>
          </a:bodyPr>
          <a:lstStyle/>
          <a:p>
            <a:pPr algn="ctr"/>
            <a:r>
              <a:rPr sz="1100" b="1" i="0">
                <a:solidFill>
                  <a:srgbClr val="FFFFFF"/>
                </a:solidFill>
                <a:latin typeface="Calibri"/>
              </a:rPr>
              <a:t>Razorpay</a:t>
            </a:r>
          </a:p>
        </p:txBody>
      </p:sp>
      <p:sp>
        <p:nvSpPr>
          <p:cNvPr id="30" name="Rectangle 29"/>
          <p:cNvSpPr/>
          <p:nvPr/>
        </p:nvSpPr>
        <p:spPr>
          <a:xfrm>
            <a:off x="5157216" y="3739896"/>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48656" y="3877056"/>
            <a:ext cx="1874519" cy="304800"/>
          </a:xfrm>
          <a:prstGeom prst="rect">
            <a:avLst/>
          </a:prstGeom>
          <a:noFill/>
        </p:spPr>
        <p:txBody>
          <a:bodyPr wrap="square">
            <a:spAutoFit/>
          </a:bodyPr>
          <a:lstStyle/>
          <a:p>
            <a:pPr algn="ctr"/>
            <a:r>
              <a:rPr sz="1100" b="1" i="0">
                <a:solidFill>
                  <a:srgbClr val="FFFFFF"/>
                </a:solidFill>
                <a:latin typeface="Calibri"/>
              </a:rPr>
              <a:t>Dream11</a:t>
            </a:r>
          </a:p>
        </p:txBody>
      </p:sp>
      <p:sp>
        <p:nvSpPr>
          <p:cNvPr id="32" name="Rectangle 31"/>
          <p:cNvSpPr/>
          <p:nvPr/>
        </p:nvSpPr>
        <p:spPr>
          <a:xfrm>
            <a:off x="7370064" y="3739896"/>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61504" y="3877056"/>
            <a:ext cx="1874519" cy="304800"/>
          </a:xfrm>
          <a:prstGeom prst="rect">
            <a:avLst/>
          </a:prstGeom>
          <a:noFill/>
        </p:spPr>
        <p:txBody>
          <a:bodyPr wrap="square">
            <a:spAutoFit/>
          </a:bodyPr>
          <a:lstStyle/>
          <a:p>
            <a:pPr algn="ctr"/>
            <a:r>
              <a:rPr sz="1100" b="1" i="0">
                <a:solidFill>
                  <a:srgbClr val="FFFFFF"/>
                </a:solidFill>
                <a:latin typeface="Calibri"/>
              </a:rPr>
              <a:t>Delhivery</a:t>
            </a:r>
          </a:p>
        </p:txBody>
      </p:sp>
      <p:sp>
        <p:nvSpPr>
          <p:cNvPr id="34" name="Rectangle 33"/>
          <p:cNvSpPr/>
          <p:nvPr/>
        </p:nvSpPr>
        <p:spPr>
          <a:xfrm>
            <a:off x="9582912" y="3739896"/>
            <a:ext cx="20574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74352" y="3877056"/>
            <a:ext cx="1874519" cy="304800"/>
          </a:xfrm>
          <a:prstGeom prst="rect">
            <a:avLst/>
          </a:prstGeom>
          <a:noFill/>
        </p:spPr>
        <p:txBody>
          <a:bodyPr wrap="square">
            <a:spAutoFit/>
          </a:bodyPr>
          <a:lstStyle/>
          <a:p>
            <a:pPr algn="ctr"/>
            <a:r>
              <a:rPr sz="1100" b="1" i="0">
                <a:solidFill>
                  <a:srgbClr val="FFFFFF"/>
                </a:solidFill>
                <a:latin typeface="Calibri"/>
              </a:rPr>
              <a:t>CRED</a:t>
            </a:r>
          </a:p>
        </p:txBody>
      </p:sp>
      <p:sp>
        <p:nvSpPr>
          <p:cNvPr id="36" name="TextBox 35"/>
          <p:cNvSpPr txBox="1"/>
          <p:nvPr/>
        </p:nvSpPr>
        <p:spPr>
          <a:xfrm>
            <a:off x="731520" y="4709160"/>
            <a:ext cx="10515600" cy="304800"/>
          </a:xfrm>
          <a:prstGeom prst="rect">
            <a:avLst/>
          </a:prstGeom>
          <a:noFill/>
        </p:spPr>
        <p:txBody>
          <a:bodyPr wrap="square">
            <a:spAutoFit/>
          </a:bodyPr>
          <a:lstStyle/>
          <a:p>
            <a:pPr algn="ctr"/>
            <a:r>
              <a:rPr sz="1000" b="0" i="0">
                <a:solidFill>
                  <a:srgbClr val="737373"/>
                </a:solidFill>
                <a:latin typeface="Calibri"/>
              </a:rPr>
              <a:t>+ 32 more across Technology, Media, D2C, FinTech, E-Commerce, EdTech, and BFSI</a:t>
            </a:r>
          </a:p>
        </p:txBody>
      </p:sp>
      <p:sp>
        <p:nvSpPr>
          <p:cNvPr id="37" name="Rectangle 36"/>
          <p:cNvSpPr/>
          <p:nvPr/>
        </p:nvSpPr>
        <p:spPr>
          <a:xfrm>
            <a:off x="731520" y="5257800"/>
            <a:ext cx="2651760" cy="13258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321808"/>
            <a:ext cx="2377440" cy="457200"/>
          </a:xfrm>
          <a:prstGeom prst="rect">
            <a:avLst/>
          </a:prstGeom>
          <a:noFill/>
        </p:spPr>
        <p:txBody>
          <a:bodyPr wrap="square">
            <a:spAutoFit/>
          </a:bodyPr>
          <a:lstStyle/>
          <a:p>
            <a:pPr algn="l"/>
            <a:r>
              <a:rPr sz="2800" b="1" i="0">
                <a:solidFill>
                  <a:srgbClr val="C8A951"/>
                </a:solidFill>
                <a:latin typeface="Calibri"/>
              </a:rPr>
              <a:t>98%</a:t>
            </a:r>
          </a:p>
        </p:txBody>
      </p:sp>
      <p:sp>
        <p:nvSpPr>
          <p:cNvPr id="39" name="TextBox 38"/>
          <p:cNvSpPr txBox="1"/>
          <p:nvPr/>
        </p:nvSpPr>
        <p:spPr>
          <a:xfrm>
            <a:off x="868680" y="5852160"/>
            <a:ext cx="2377440" cy="304800"/>
          </a:xfrm>
          <a:prstGeom prst="rect">
            <a:avLst/>
          </a:prstGeom>
          <a:noFill/>
        </p:spPr>
        <p:txBody>
          <a:bodyPr wrap="square">
            <a:spAutoFit/>
          </a:bodyPr>
          <a:lstStyle/>
          <a:p>
            <a:pPr algn="l"/>
            <a:r>
              <a:rPr sz="900" b="0" i="0">
                <a:solidFill>
                  <a:srgbClr val="737373"/>
                </a:solidFill>
                <a:latin typeface="Calibri"/>
              </a:rPr>
              <a:t>Shortlist-to-interview conversion</a:t>
            </a:r>
          </a:p>
        </p:txBody>
      </p:sp>
      <p:sp>
        <p:nvSpPr>
          <p:cNvPr id="40" name="Rectangle 39"/>
          <p:cNvSpPr/>
          <p:nvPr/>
        </p:nvSpPr>
        <p:spPr>
          <a:xfrm>
            <a:off x="3520440" y="5257800"/>
            <a:ext cx="2651760" cy="13258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0" y="5321808"/>
            <a:ext cx="2377440" cy="457200"/>
          </a:xfrm>
          <a:prstGeom prst="rect">
            <a:avLst/>
          </a:prstGeom>
          <a:noFill/>
        </p:spPr>
        <p:txBody>
          <a:bodyPr wrap="square">
            <a:spAutoFit/>
          </a:bodyPr>
          <a:lstStyle/>
          <a:p>
            <a:pPr algn="l"/>
            <a:r>
              <a:rPr sz="2800" b="1" i="0">
                <a:solidFill>
                  <a:srgbClr val="C8A951"/>
                </a:solidFill>
                <a:latin typeface="Calibri"/>
              </a:rPr>
              <a:t>87%</a:t>
            </a:r>
          </a:p>
        </p:txBody>
      </p:sp>
      <p:sp>
        <p:nvSpPr>
          <p:cNvPr id="42" name="TextBox 41"/>
          <p:cNvSpPr txBox="1"/>
          <p:nvPr/>
        </p:nvSpPr>
        <p:spPr>
          <a:xfrm>
            <a:off x="3657600" y="5852160"/>
            <a:ext cx="2377440" cy="304800"/>
          </a:xfrm>
          <a:prstGeom prst="rect">
            <a:avLst/>
          </a:prstGeom>
          <a:noFill/>
        </p:spPr>
        <p:txBody>
          <a:bodyPr wrap="square">
            <a:spAutoFit/>
          </a:bodyPr>
          <a:lstStyle/>
          <a:p>
            <a:pPr algn="l"/>
            <a:r>
              <a:rPr sz="900" b="0" i="0">
                <a:solidFill>
                  <a:srgbClr val="737373"/>
                </a:solidFill>
                <a:latin typeface="Calibri"/>
              </a:rPr>
              <a:t>Offer acceptance rate</a:t>
            </a:r>
          </a:p>
        </p:txBody>
      </p:sp>
      <p:sp>
        <p:nvSpPr>
          <p:cNvPr id="43" name="Rectangle 42"/>
          <p:cNvSpPr/>
          <p:nvPr/>
        </p:nvSpPr>
        <p:spPr>
          <a:xfrm>
            <a:off x="6309360" y="5257800"/>
            <a:ext cx="2651760" cy="13258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5321808"/>
            <a:ext cx="2377440" cy="457200"/>
          </a:xfrm>
          <a:prstGeom prst="rect">
            <a:avLst/>
          </a:prstGeom>
          <a:noFill/>
        </p:spPr>
        <p:txBody>
          <a:bodyPr wrap="square">
            <a:spAutoFit/>
          </a:bodyPr>
          <a:lstStyle/>
          <a:p>
            <a:pPr algn="l"/>
            <a:r>
              <a:rPr sz="2800" b="1" i="0">
                <a:solidFill>
                  <a:srgbClr val="C8A951"/>
                </a:solidFill>
                <a:latin typeface="Calibri"/>
              </a:rPr>
              <a:t>94%</a:t>
            </a:r>
          </a:p>
        </p:txBody>
      </p:sp>
      <p:sp>
        <p:nvSpPr>
          <p:cNvPr id="45" name="TextBox 44"/>
          <p:cNvSpPr txBox="1"/>
          <p:nvPr/>
        </p:nvSpPr>
        <p:spPr>
          <a:xfrm>
            <a:off x="6446520" y="5852160"/>
            <a:ext cx="2377440" cy="304800"/>
          </a:xfrm>
          <a:prstGeom prst="rect">
            <a:avLst/>
          </a:prstGeom>
          <a:noFill/>
        </p:spPr>
        <p:txBody>
          <a:bodyPr wrap="square">
            <a:spAutoFit/>
          </a:bodyPr>
          <a:lstStyle/>
          <a:p>
            <a:pPr algn="l"/>
            <a:r>
              <a:rPr sz="900" b="0" i="0">
                <a:solidFill>
                  <a:srgbClr val="737373"/>
                </a:solidFill>
                <a:latin typeface="Calibri"/>
              </a:rPr>
              <a:t>12-month retention on placements</a:t>
            </a:r>
          </a:p>
        </p:txBody>
      </p:sp>
      <p:sp>
        <p:nvSpPr>
          <p:cNvPr id="46" name="Rectangle 45"/>
          <p:cNvSpPr/>
          <p:nvPr/>
        </p:nvSpPr>
        <p:spPr>
          <a:xfrm>
            <a:off x="9098280" y="5257800"/>
            <a:ext cx="2651760" cy="13258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35440" y="5321808"/>
            <a:ext cx="2377440" cy="457200"/>
          </a:xfrm>
          <a:prstGeom prst="rect">
            <a:avLst/>
          </a:prstGeom>
          <a:noFill/>
        </p:spPr>
        <p:txBody>
          <a:bodyPr wrap="square">
            <a:spAutoFit/>
          </a:bodyPr>
          <a:lstStyle/>
          <a:p>
            <a:pPr algn="l"/>
            <a:r>
              <a:rPr sz="2800" b="1" i="0">
                <a:solidFill>
                  <a:srgbClr val="C8A951"/>
                </a:solidFill>
                <a:latin typeface="Calibri"/>
              </a:rPr>
              <a:t>&lt;20</a:t>
            </a:r>
          </a:p>
        </p:txBody>
      </p:sp>
      <p:sp>
        <p:nvSpPr>
          <p:cNvPr id="48" name="TextBox 47"/>
          <p:cNvSpPr txBox="1"/>
          <p:nvPr/>
        </p:nvSpPr>
        <p:spPr>
          <a:xfrm>
            <a:off x="9235440" y="5852160"/>
            <a:ext cx="2377440" cy="304800"/>
          </a:xfrm>
          <a:prstGeom prst="rect">
            <a:avLst/>
          </a:prstGeom>
          <a:noFill/>
        </p:spPr>
        <p:txBody>
          <a:bodyPr wrap="square">
            <a:spAutoFit/>
          </a:bodyPr>
          <a:lstStyle/>
          <a:p>
            <a:pPr algn="l"/>
            <a:r>
              <a:rPr sz="900" b="0" i="0">
                <a:solidFill>
                  <a:srgbClr val="737373"/>
                </a:solidFill>
                <a:latin typeface="Calibri"/>
              </a:rPr>
              <a:t>Business days average time-to-shortlist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1828800" cy="203200"/>
          </a:xfrm>
          <a:prstGeom prst="rect">
            <a:avLst/>
          </a:prstGeom>
          <a:noFill/>
        </p:spPr>
        <p:txBody>
          <a:bodyPr wrap="square">
            <a:spAutoFit/>
          </a:bodyPr>
          <a:lstStyle/>
          <a:p>
            <a:pPr algn="l"/>
            <a:r>
              <a:rPr sz="900" b="1" i="0">
                <a:solidFill>
                  <a:srgbClr val="C8A951"/>
                </a:solidFill>
                <a:latin typeface="Calibri"/>
              </a:rPr>
              <a:t>NEXT STEPS</a:t>
            </a:r>
          </a:p>
        </p:txBody>
      </p:sp>
      <p:sp>
        <p:nvSpPr>
          <p:cNvPr id="4" name="TextBox 3"/>
          <p:cNvSpPr txBox="1"/>
          <p:nvPr/>
        </p:nvSpPr>
        <p:spPr>
          <a:xfrm>
            <a:off x="731520" y="640080"/>
            <a:ext cx="10515600" cy="1371600"/>
          </a:xfrm>
          <a:prstGeom prst="rect">
            <a:avLst/>
          </a:prstGeom>
          <a:noFill/>
        </p:spPr>
        <p:txBody>
          <a:bodyPr wrap="square">
            <a:spAutoFit/>
          </a:bodyPr>
          <a:lstStyle/>
          <a:p>
            <a:pPr algn="l">
              <a:lnSpc>
                <a:spcPct val="1150"/>
              </a:lnSpc>
            </a:pPr>
            <a:r>
              <a:rPr sz="3200" b="1" i="0">
                <a:solidFill>
                  <a:srgbClr val="0D0D0D"/>
                </a:solidFill>
                <a:latin typeface="Calibri"/>
              </a:rPr>
              <a:t>Three actions to move from conversation
to confirmed partnership.</a:t>
            </a:r>
          </a:p>
        </p:txBody>
      </p:sp>
      <p:sp>
        <p:nvSpPr>
          <p:cNvPr id="5" name="Rectangle 4"/>
          <p:cNvSpPr/>
          <p:nvPr/>
        </p:nvSpPr>
        <p:spPr>
          <a:xfrm>
            <a:off x="731520" y="1783080"/>
            <a:ext cx="457200" cy="3175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57400"/>
            <a:ext cx="3566160" cy="4389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57400"/>
            <a:ext cx="356616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48840"/>
            <a:ext cx="731520" cy="457200"/>
          </a:xfrm>
          <a:prstGeom prst="rect">
            <a:avLst/>
          </a:prstGeom>
          <a:noFill/>
        </p:spPr>
        <p:txBody>
          <a:bodyPr wrap="square">
            <a:spAutoFit/>
          </a:bodyPr>
          <a:lstStyle/>
          <a:p>
            <a:pPr algn="l"/>
            <a:r>
              <a:rPr sz="2800" b="1" i="0">
                <a:solidFill>
                  <a:srgbClr val="E5E5E5"/>
                </a:solidFill>
                <a:latin typeface="Calibri"/>
              </a:rPr>
              <a:t>01</a:t>
            </a:r>
          </a:p>
        </p:txBody>
      </p:sp>
      <p:sp>
        <p:nvSpPr>
          <p:cNvPr id="9" name="TextBox 8"/>
          <p:cNvSpPr txBox="1"/>
          <p:nvPr/>
        </p:nvSpPr>
        <p:spPr>
          <a:xfrm>
            <a:off x="914400" y="2651760"/>
            <a:ext cx="3200400" cy="254000"/>
          </a:xfrm>
          <a:prstGeom prst="rect">
            <a:avLst/>
          </a:prstGeom>
          <a:noFill/>
        </p:spPr>
        <p:txBody>
          <a:bodyPr wrap="square">
            <a:spAutoFit/>
          </a:bodyPr>
          <a:lstStyle/>
          <a:p>
            <a:pPr algn="l"/>
            <a:r>
              <a:rPr sz="800" b="1" i="0">
                <a:solidFill>
                  <a:srgbClr val="C8A951"/>
                </a:solidFill>
                <a:latin typeface="Calibri"/>
              </a:rPr>
              <a:t>THIS WEEK</a:t>
            </a:r>
          </a:p>
        </p:txBody>
      </p:sp>
      <p:sp>
        <p:nvSpPr>
          <p:cNvPr id="10" name="TextBox 9"/>
          <p:cNvSpPr txBox="1"/>
          <p:nvPr/>
        </p:nvSpPr>
        <p:spPr>
          <a:xfrm>
            <a:off x="914400" y="2907792"/>
            <a:ext cx="3200400" cy="304800"/>
          </a:xfrm>
          <a:prstGeom prst="rect">
            <a:avLst/>
          </a:prstGeom>
          <a:noFill/>
        </p:spPr>
        <p:txBody>
          <a:bodyPr wrap="square">
            <a:spAutoFit/>
          </a:bodyPr>
          <a:lstStyle/>
          <a:p>
            <a:pPr algn="l"/>
            <a:r>
              <a:rPr sz="1500" b="1" i="0">
                <a:solidFill>
                  <a:srgbClr val="0D0D0D"/>
                </a:solidFill>
                <a:latin typeface="Calibri"/>
              </a:rPr>
              <a:t>Discovery Call</a:t>
            </a:r>
          </a:p>
        </p:txBody>
      </p:sp>
      <p:sp>
        <p:nvSpPr>
          <p:cNvPr id="11" name="TextBox 10"/>
          <p:cNvSpPr txBox="1"/>
          <p:nvPr/>
        </p:nvSpPr>
        <p:spPr>
          <a:xfrm>
            <a:off x="914400" y="3401568"/>
            <a:ext cx="3246120" cy="2834640"/>
          </a:xfrm>
          <a:prstGeom prst="rect">
            <a:avLst/>
          </a:prstGeom>
          <a:noFill/>
        </p:spPr>
        <p:txBody>
          <a:bodyPr wrap="square">
            <a:spAutoFit/>
          </a:bodyPr>
          <a:lstStyle/>
          <a:p>
            <a:pPr algn="l">
              <a:lnSpc>
                <a:spcPct val="1400"/>
              </a:lnSpc>
            </a:pPr>
            <a:r>
              <a:rPr sz="1000" b="0" i="0">
                <a:solidFill>
                  <a:srgbClr val="404040"/>
                </a:solidFill>
                <a:latin typeface="Calibri"/>
              </a:rPr>
              <a:t>A 60-minute call with your TA leadership and up to two hiring managers. We review open mandates, understand your current sourcing challenges, and confirm fit. We come prepared — this is not a credentials presentation.</a:t>
            </a:r>
          </a:p>
        </p:txBody>
      </p:sp>
      <p:sp>
        <p:nvSpPr>
          <p:cNvPr id="12" name="Rectangle 11"/>
          <p:cNvSpPr/>
          <p:nvPr/>
        </p:nvSpPr>
        <p:spPr>
          <a:xfrm>
            <a:off x="4544568" y="2057400"/>
            <a:ext cx="3566160" cy="4389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2057400"/>
            <a:ext cx="356616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27448" y="2148840"/>
            <a:ext cx="731520" cy="457200"/>
          </a:xfrm>
          <a:prstGeom prst="rect">
            <a:avLst/>
          </a:prstGeom>
          <a:noFill/>
        </p:spPr>
        <p:txBody>
          <a:bodyPr wrap="square">
            <a:spAutoFit/>
          </a:bodyPr>
          <a:lstStyle/>
          <a:p>
            <a:pPr algn="l"/>
            <a:r>
              <a:rPr sz="2800" b="1" i="0">
                <a:solidFill>
                  <a:srgbClr val="E5E5E5"/>
                </a:solidFill>
                <a:latin typeface="Calibri"/>
              </a:rPr>
              <a:t>02</a:t>
            </a:r>
          </a:p>
        </p:txBody>
      </p:sp>
      <p:sp>
        <p:nvSpPr>
          <p:cNvPr id="15" name="TextBox 14"/>
          <p:cNvSpPr txBox="1"/>
          <p:nvPr/>
        </p:nvSpPr>
        <p:spPr>
          <a:xfrm>
            <a:off x="4727448" y="2651760"/>
            <a:ext cx="3200400" cy="254000"/>
          </a:xfrm>
          <a:prstGeom prst="rect">
            <a:avLst/>
          </a:prstGeom>
          <a:noFill/>
        </p:spPr>
        <p:txBody>
          <a:bodyPr wrap="square">
            <a:spAutoFit/>
          </a:bodyPr>
          <a:lstStyle/>
          <a:p>
            <a:pPr algn="l"/>
            <a:r>
              <a:rPr sz="800" b="1" i="0">
                <a:solidFill>
                  <a:srgbClr val="C8A951"/>
                </a:solidFill>
                <a:latin typeface="Calibri"/>
              </a:rPr>
              <a:t>WEEK 2</a:t>
            </a:r>
          </a:p>
        </p:txBody>
      </p:sp>
      <p:sp>
        <p:nvSpPr>
          <p:cNvPr id="16" name="TextBox 15"/>
          <p:cNvSpPr txBox="1"/>
          <p:nvPr/>
        </p:nvSpPr>
        <p:spPr>
          <a:xfrm>
            <a:off x="4727448" y="2907792"/>
            <a:ext cx="3200400" cy="304800"/>
          </a:xfrm>
          <a:prstGeom prst="rect">
            <a:avLst/>
          </a:prstGeom>
          <a:noFill/>
        </p:spPr>
        <p:txBody>
          <a:bodyPr wrap="square">
            <a:spAutoFit/>
          </a:bodyPr>
          <a:lstStyle/>
          <a:p>
            <a:pPr algn="l"/>
            <a:r>
              <a:rPr sz="1500" b="1" i="0">
                <a:solidFill>
                  <a:srgbClr val="0D0D0D"/>
                </a:solidFill>
                <a:latin typeface="Calibri"/>
              </a:rPr>
              <a:t>MSA &amp; Pilot Scope</a:t>
            </a:r>
          </a:p>
        </p:txBody>
      </p:sp>
      <p:sp>
        <p:nvSpPr>
          <p:cNvPr id="17" name="TextBox 16"/>
          <p:cNvSpPr txBox="1"/>
          <p:nvPr/>
        </p:nvSpPr>
        <p:spPr>
          <a:xfrm>
            <a:off x="4727448" y="3401568"/>
            <a:ext cx="3246120" cy="2834640"/>
          </a:xfrm>
          <a:prstGeom prst="rect">
            <a:avLst/>
          </a:prstGeom>
          <a:noFill/>
        </p:spPr>
        <p:txBody>
          <a:bodyPr wrap="square">
            <a:spAutoFit/>
          </a:bodyPr>
          <a:lstStyle/>
          <a:p>
            <a:pPr algn="l">
              <a:lnSpc>
                <a:spcPct val="1400"/>
              </a:lnSpc>
            </a:pPr>
            <a:r>
              <a:rPr sz="1000" b="0" i="0">
                <a:solidFill>
                  <a:srgbClr val="404040"/>
                </a:solidFill>
                <a:latin typeface="Calibri"/>
              </a:rPr>
              <a:t>Legal review and sign-off on our Master Service Agreement. Selection of 3–5 pilot mandates. Assignment of your dedicated senior account partner. Kick-off meeting scheduled with all stakeholders.</a:t>
            </a:r>
          </a:p>
        </p:txBody>
      </p:sp>
      <p:sp>
        <p:nvSpPr>
          <p:cNvPr id="18" name="Rectangle 17"/>
          <p:cNvSpPr/>
          <p:nvPr/>
        </p:nvSpPr>
        <p:spPr>
          <a:xfrm>
            <a:off x="8357616" y="2057400"/>
            <a:ext cx="3566160" cy="4389120"/>
          </a:xfrm>
          <a:prstGeom prst="rect">
            <a:avLst/>
          </a:prstGeom>
          <a:solidFill>
            <a:srgbClr val="F8F8F8"/>
          </a:solidFill>
          <a:ln w="9525">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57616" y="2057400"/>
            <a:ext cx="3566160" cy="508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0496" y="2148840"/>
            <a:ext cx="731520" cy="457200"/>
          </a:xfrm>
          <a:prstGeom prst="rect">
            <a:avLst/>
          </a:prstGeom>
          <a:noFill/>
        </p:spPr>
        <p:txBody>
          <a:bodyPr wrap="square">
            <a:spAutoFit/>
          </a:bodyPr>
          <a:lstStyle/>
          <a:p>
            <a:pPr algn="l"/>
            <a:r>
              <a:rPr sz="2800" b="1" i="0">
                <a:solidFill>
                  <a:srgbClr val="E5E5E5"/>
                </a:solidFill>
                <a:latin typeface="Calibri"/>
              </a:rPr>
              <a:t>03</a:t>
            </a:r>
          </a:p>
        </p:txBody>
      </p:sp>
      <p:sp>
        <p:nvSpPr>
          <p:cNvPr id="21" name="TextBox 20"/>
          <p:cNvSpPr txBox="1"/>
          <p:nvPr/>
        </p:nvSpPr>
        <p:spPr>
          <a:xfrm>
            <a:off x="8540496" y="2651760"/>
            <a:ext cx="3200400" cy="254000"/>
          </a:xfrm>
          <a:prstGeom prst="rect">
            <a:avLst/>
          </a:prstGeom>
          <a:noFill/>
        </p:spPr>
        <p:txBody>
          <a:bodyPr wrap="square">
            <a:spAutoFit/>
          </a:bodyPr>
          <a:lstStyle/>
          <a:p>
            <a:pPr algn="l"/>
            <a:r>
              <a:rPr sz="800" b="1" i="0">
                <a:solidFill>
                  <a:srgbClr val="C8A951"/>
                </a:solidFill>
                <a:latin typeface="Calibri"/>
              </a:rPr>
              <a:t>WEEKS 3–4</a:t>
            </a:r>
          </a:p>
        </p:txBody>
      </p:sp>
      <p:sp>
        <p:nvSpPr>
          <p:cNvPr id="22" name="TextBox 21"/>
          <p:cNvSpPr txBox="1"/>
          <p:nvPr/>
        </p:nvSpPr>
        <p:spPr>
          <a:xfrm>
            <a:off x="8540496" y="2907792"/>
            <a:ext cx="3200400" cy="304800"/>
          </a:xfrm>
          <a:prstGeom prst="rect">
            <a:avLst/>
          </a:prstGeom>
          <a:noFill/>
        </p:spPr>
        <p:txBody>
          <a:bodyPr wrap="square">
            <a:spAutoFit/>
          </a:bodyPr>
          <a:lstStyle/>
          <a:p>
            <a:pPr algn="l"/>
            <a:r>
              <a:rPr sz="1500" b="1" i="0">
                <a:solidFill>
                  <a:srgbClr val="0D0D0D"/>
                </a:solidFill>
                <a:latin typeface="Calibri"/>
              </a:rPr>
              <a:t>First Shortlists</a:t>
            </a:r>
          </a:p>
        </p:txBody>
      </p:sp>
      <p:sp>
        <p:nvSpPr>
          <p:cNvPr id="23" name="TextBox 22"/>
          <p:cNvSpPr txBox="1"/>
          <p:nvPr/>
        </p:nvSpPr>
        <p:spPr>
          <a:xfrm>
            <a:off x="8540496" y="3401568"/>
            <a:ext cx="3246120" cy="2834640"/>
          </a:xfrm>
          <a:prstGeom prst="rect">
            <a:avLst/>
          </a:prstGeom>
          <a:noFill/>
        </p:spPr>
        <p:txBody>
          <a:bodyPr wrap="square">
            <a:spAutoFit/>
          </a:bodyPr>
          <a:lstStyle/>
          <a:p>
            <a:pPr algn="l">
              <a:lnSpc>
                <a:spcPct val="1400"/>
              </a:lnSpc>
            </a:pPr>
            <a:r>
              <a:rPr sz="1000" b="0" i="0">
                <a:solidFill>
                  <a:srgbClr val="404040"/>
                </a:solidFill>
                <a:latin typeface="Calibri"/>
              </a:rPr>
              <a:t>Active sourcing begins immediately post-brief. First shortlists delivered within 15–20 business days. Your hiring managers conduct first-round interviews. We provide candidate briefing support throughout.</a:t>
            </a:r>
          </a:p>
        </p:txBody>
      </p:sp>
      <p:sp>
        <p:nvSpPr>
          <p:cNvPr id="24" name="Rectangle 23"/>
          <p:cNvSpPr/>
          <p:nvPr/>
        </p:nvSpPr>
        <p:spPr>
          <a:xfrm>
            <a:off x="731520" y="6217920"/>
            <a:ext cx="10515600" cy="38100"/>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6263640"/>
            <a:ext cx="10515600" cy="254000"/>
          </a:xfrm>
          <a:prstGeom prst="rect">
            <a:avLst/>
          </a:prstGeom>
          <a:noFill/>
        </p:spPr>
        <p:txBody>
          <a:bodyPr wrap="square">
            <a:spAutoFit/>
          </a:bodyPr>
          <a:lstStyle/>
          <a:p>
            <a:pPr algn="ctr"/>
            <a:r>
              <a:rPr sz="1000" b="0" i="0">
                <a:solidFill>
                  <a:srgbClr val="737373"/>
                </a:solidFill>
                <a:latin typeface="Calibri"/>
              </a:rPr>
              <a:t>Rudra Kasturi  ·  Managing Director, AppStudioX  ·  rudra@appstudiox.com  ·  linkedin.com/in/rudrakasturi  ·  appstudiox.com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4572000" cy="304800"/>
          </a:xfrm>
          <a:prstGeom prst="rect">
            <a:avLst/>
          </a:prstGeom>
          <a:noFill/>
        </p:spPr>
        <p:txBody>
          <a:bodyPr wrap="square">
            <a:spAutoFit/>
          </a:bodyPr>
          <a:lstStyle/>
          <a:p>
            <a:pPr algn="l"/>
            <a:r>
              <a:rPr sz="1300" b="1" i="0">
                <a:solidFill>
                  <a:srgbClr val="C8A951"/>
                </a:solidFill>
                <a:latin typeface="Calibri"/>
              </a:rPr>
              <a:t>AppStudioX</a:t>
            </a:r>
          </a:p>
        </p:txBody>
      </p:sp>
      <p:sp>
        <p:nvSpPr>
          <p:cNvPr id="4" name="TextBox 3"/>
          <p:cNvSpPr txBox="1"/>
          <p:nvPr/>
        </p:nvSpPr>
        <p:spPr>
          <a:xfrm>
            <a:off x="731520" y="1828800"/>
            <a:ext cx="9144000" cy="2286000"/>
          </a:xfrm>
          <a:prstGeom prst="rect">
            <a:avLst/>
          </a:prstGeom>
          <a:noFill/>
        </p:spPr>
        <p:txBody>
          <a:bodyPr wrap="square">
            <a:spAutoFit/>
          </a:bodyPr>
          <a:lstStyle/>
          <a:p>
            <a:pPr algn="l">
              <a:lnSpc>
                <a:spcPct val="1100"/>
              </a:lnSpc>
            </a:pPr>
            <a:r>
              <a:rPr sz="4800" b="1" i="0">
                <a:solidFill>
                  <a:srgbClr val="FFFFFF"/>
                </a:solidFill>
                <a:latin typeface="Calibri"/>
              </a:rPr>
              <a:t>The right technology talent
changes everything.</a:t>
            </a:r>
          </a:p>
        </p:txBody>
      </p:sp>
      <p:sp>
        <p:nvSpPr>
          <p:cNvPr id="5" name="Rectangle 4"/>
          <p:cNvSpPr/>
          <p:nvPr/>
        </p:nvSpPr>
        <p:spPr>
          <a:xfrm>
            <a:off x="731520" y="3840480"/>
            <a:ext cx="548640" cy="381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023360"/>
            <a:ext cx="8229600" cy="355600"/>
          </a:xfrm>
          <a:prstGeom prst="rect">
            <a:avLst/>
          </a:prstGeom>
          <a:noFill/>
        </p:spPr>
        <p:txBody>
          <a:bodyPr wrap="square">
            <a:spAutoFit/>
          </a:bodyPr>
          <a:lstStyle/>
          <a:p>
            <a:pPr algn="l"/>
            <a:r>
              <a:rPr sz="1600" b="0" i="0">
                <a:solidFill>
                  <a:srgbClr val="AAAAAA"/>
                </a:solidFill>
                <a:latin typeface="Calibri"/>
              </a:rPr>
              <a:t>We look forward to being your long-term talent partner.</a:t>
            </a:r>
          </a:p>
        </p:txBody>
      </p:sp>
      <p:sp>
        <p:nvSpPr>
          <p:cNvPr id="7" name="Rectangle 6"/>
          <p:cNvSpPr/>
          <p:nvPr/>
        </p:nvSpPr>
        <p:spPr>
          <a:xfrm>
            <a:off x="731520" y="5029200"/>
            <a:ext cx="5029200" cy="15544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166360"/>
            <a:ext cx="4572000" cy="304800"/>
          </a:xfrm>
          <a:prstGeom prst="rect">
            <a:avLst/>
          </a:prstGeom>
          <a:noFill/>
        </p:spPr>
        <p:txBody>
          <a:bodyPr wrap="square">
            <a:spAutoFit/>
          </a:bodyPr>
          <a:lstStyle/>
          <a:p>
            <a:pPr algn="l"/>
            <a:r>
              <a:rPr sz="1400" b="1" i="0">
                <a:solidFill>
                  <a:srgbClr val="FFFFFF"/>
                </a:solidFill>
                <a:latin typeface="Calibri"/>
              </a:rPr>
              <a:t>Rudra Kasturi</a:t>
            </a:r>
          </a:p>
        </p:txBody>
      </p:sp>
      <p:sp>
        <p:nvSpPr>
          <p:cNvPr id="9" name="TextBox 8"/>
          <p:cNvSpPr txBox="1"/>
          <p:nvPr/>
        </p:nvSpPr>
        <p:spPr>
          <a:xfrm>
            <a:off x="914400" y="5486400"/>
            <a:ext cx="4572000" cy="254000"/>
          </a:xfrm>
          <a:prstGeom prst="rect">
            <a:avLst/>
          </a:prstGeom>
          <a:noFill/>
        </p:spPr>
        <p:txBody>
          <a:bodyPr wrap="square">
            <a:spAutoFit/>
          </a:bodyPr>
          <a:lstStyle/>
          <a:p>
            <a:pPr algn="l"/>
            <a:r>
              <a:rPr sz="1000" b="0" i="0">
                <a:solidFill>
                  <a:srgbClr val="737373"/>
                </a:solidFill>
                <a:latin typeface="Calibri"/>
              </a:rPr>
              <a:t>Managing Director, AppStudioX</a:t>
            </a:r>
          </a:p>
        </p:txBody>
      </p:sp>
      <p:sp>
        <p:nvSpPr>
          <p:cNvPr id="10" name="TextBox 9"/>
          <p:cNvSpPr txBox="1"/>
          <p:nvPr/>
        </p:nvSpPr>
        <p:spPr>
          <a:xfrm>
            <a:off x="914400" y="5806440"/>
            <a:ext cx="4572000" cy="254000"/>
          </a:xfrm>
          <a:prstGeom prst="rect">
            <a:avLst/>
          </a:prstGeom>
          <a:noFill/>
        </p:spPr>
        <p:txBody>
          <a:bodyPr wrap="square">
            <a:spAutoFit/>
          </a:bodyPr>
          <a:lstStyle/>
          <a:p>
            <a:pPr algn="l"/>
            <a:r>
              <a:rPr sz="1000" b="0" i="0">
                <a:solidFill>
                  <a:srgbClr val="C8A951"/>
                </a:solidFill>
                <a:latin typeface="Calibri"/>
              </a:rPr>
              <a:t>rudra@appstudiox.com</a:t>
            </a:r>
          </a:p>
        </p:txBody>
      </p:sp>
      <p:sp>
        <p:nvSpPr>
          <p:cNvPr id="11" name="TextBox 10"/>
          <p:cNvSpPr txBox="1"/>
          <p:nvPr/>
        </p:nvSpPr>
        <p:spPr>
          <a:xfrm>
            <a:off x="914400" y="6080760"/>
            <a:ext cx="4572000" cy="254000"/>
          </a:xfrm>
          <a:prstGeom prst="rect">
            <a:avLst/>
          </a:prstGeom>
          <a:noFill/>
        </p:spPr>
        <p:txBody>
          <a:bodyPr wrap="square">
            <a:spAutoFit/>
          </a:bodyPr>
          <a:lstStyle/>
          <a:p>
            <a:pPr algn="l"/>
            <a:r>
              <a:rPr sz="1000" b="0" i="0">
                <a:solidFill>
                  <a:srgbClr val="737373"/>
                </a:solidFill>
                <a:latin typeface="Calibri"/>
              </a:rPr>
              <a:t>linkedin.com/in/rudrakasturi</a:t>
            </a:r>
          </a:p>
        </p:txBody>
      </p:sp>
      <p:sp>
        <p:nvSpPr>
          <p:cNvPr id="12" name="TextBox 11"/>
          <p:cNvSpPr txBox="1"/>
          <p:nvPr/>
        </p:nvSpPr>
        <p:spPr>
          <a:xfrm>
            <a:off x="6858000" y="6035040"/>
            <a:ext cx="5029200" cy="304800"/>
          </a:xfrm>
          <a:prstGeom prst="rect">
            <a:avLst/>
          </a:prstGeom>
          <a:noFill/>
        </p:spPr>
        <p:txBody>
          <a:bodyPr wrap="square">
            <a:spAutoFit/>
          </a:bodyPr>
          <a:lstStyle/>
          <a:p>
            <a:pPr algn="r"/>
            <a:r>
              <a:rPr sz="1200" b="0" i="1">
                <a:solidFill>
                  <a:srgbClr val="555555"/>
                </a:solidFill>
                <a:latin typeface="Calibri"/>
              </a:rPr>
              <a:t>Strategy. Analytics. Growth. Talent.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